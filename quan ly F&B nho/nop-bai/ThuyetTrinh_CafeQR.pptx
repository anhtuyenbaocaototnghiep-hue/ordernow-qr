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3b66a6e1-d13a-df5e-0179-8c84cc01c55f}">
          <p14:sldIdLst>
            <p14:sldId id="256"/>
          </p14:sldIdLst>
        </p14:section>
        <p14:section name="Bài toán" id="{1a1fbf4a-6deb-3527-387d-b186eaa45d6f}">
          <p14:sldIdLst>
            <p14:sldId id="257"/>
          </p14:sldIdLst>
        </p14:section>
        <p14:section name="Thiết kế" id="{99d77b81-79c1-c4b6-185e-1a4352a48573}">
          <p14:sldIdLst>
            <p14:sldId id="258"/>
            <p14:sldId id="259"/>
          </p14:sldIdLst>
        </p14:section>
        <p14:section name="Sản phẩm" id="{ca5c63bf-6c69-d65d-1d52-ae082c426c73}">
          <p14:sldIdLst>
            <p14:sldId id="260"/>
            <p14:sldId id="261"/>
            <p14:sldId id="262"/>
          </p14:sldIdLst>
        </p14:section>
        <p14:section name="Làm việc với AI" id="{989f6feb-949f-c9b3-2434-340f79e2bb7c}">
          <p14:sldIdLst>
            <p14:sldId id="263"/>
            <p14:sldId id="264"/>
            <p14:sldId id="265"/>
          </p14:sldIdLst>
        </p14:section>
        <p14:section name="Kết luận" id="{ce9908cd-a182-2f8a-4de3-e95c84bddcf4}">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4170F"/>
                </a:solidFill>
                <a:latin typeface="+mn-lt"/>
              </a:defRPr>
            </a:pPr>
            <a:r>
              <a:rPr sz="1300" b="0" i="0" u="none" strike="noStrike">
                <a:solidFill>
                  <a:srgbClr val="24170F"/>
                </a:solidFill>
                <a:latin typeface="+mn-lt"/>
              </a:rPr>
              <a:t>Số test tự động tăng theo từng đợt</a:t>
            </a:r>
          </a:p>
        </c:rich>
      </c:tx>
      <c:layout/>
      <c:overlay val="0"/>
    </c:title>
    <c:autoTitleDeleted val="0"/>
    <c:plotArea>
      <c:layout/>
      <c:barChart>
        <c:barDir val="col"/>
        <c:grouping val="clustered"/>
        <c:varyColors val="0"/>
        <c:ser>
          <c:idx val="0"/>
          <c:order val="0"/>
          <c:tx>
            <c:strRef>
              <c:f>Sheet1!$B$1</c:f>
              <c:strCache>
                <c:ptCount val="1"/>
                <c:pt idx="0">
                  <c:v>Số test tự động</c:v>
                </c:pt>
              </c:strCache>
            </c:strRef>
          </c:tx>
          <c:spPr>
            <a:solidFill>
              <a:srgbClr val="7A4527"/>
            </a:solidFill>
            <a:effectLst/>
          </c:spPr>
          <c:invertIfNegative val="0"/>
          <c:dLbls>
            <c:numFmt formatCode="#,##0" sourceLinked="0"/>
            <c:txPr>
              <a:bodyPr/>
              <a:lstStyle/>
              <a:p>
                <a:pPr>
                  <a:defRPr b="0" i="0" strike="noStrike" sz="1100" u="none">
                    <a:solidFill>
                      <a:srgbClr val="24170F"/>
                    </a:solidFill>
                    <a:latin typeface="+mn-lt"/>
                  </a:defRPr>
                </a:pPr>
              </a:p>
            </c:txPr>
            <c:showLegendKey val="0"/>
            <c:showVal val="1"/>
            <c:showCatName val="0"/>
            <c:showSerName val="0"/>
            <c:showPercent val="0"/>
            <c:showBubbleSize val="0"/>
            <c:showLeaderLines val="0"/>
          </c:dLbls>
          <c:cat>
            <c:multiLvlStrRef>
              <c:f>Sheet1!$A$2:$A$5</c:f>
              <c:multiLvlStrCache>
                <c:ptCount val="4"/>
                <c:lvl>
                  <c:pt idx="0">
                    <c:v>18/10</c:v>
                  </c:pt>
                  <c:pt idx="1">
                    <c:v>20/10</c:v>
                  </c:pt>
                  <c:pt idx="2">
                    <c:v>21/10</c:v>
                  </c:pt>
                  <c:pt idx="3">
                    <c:v>23/10</c:v>
                  </c:pt>
                </c:lvl>
              </c:multiLvlStrCache>
            </c:multiLvlStrRef>
          </c:cat>
          <c:val>
            <c:numRef>
              <c:f>Sheet1!$B$2:$B$5</c:f>
              <c:numCache>
                <c:formatCode>General</c:formatCode>
                <c:ptCount val="4"/>
                <c:pt idx="0">
                  <c:v>234</c:v>
                </c:pt>
                <c:pt idx="1">
                  <c:v>255</c:v>
                </c:pt>
                <c:pt idx="2">
                  <c:v>286</c:v>
                </c:pt>
                <c:pt idx="3">
                  <c:v>304</c:v>
                </c:pt>
              </c:numCache>
            </c:numRef>
          </c:val>
        </c:ser>
        <c:dLbls>
          <c:numFmt formatCode="#,##0" sourceLinked="0"/>
          <c:txPr>
            <a:bodyPr/>
            <a:lstStyle/>
            <a:p>
              <a:pPr>
                <a:defRPr b="0" i="0" strike="noStrike" sz="1100" u="none">
                  <a:solidFill>
                    <a:srgbClr val="24170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8533F"/>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giới thiệu đồ án Cafe QR: hệ thống cho quán cà phê nhỏ, khách quét mã QR trên bàn để tự gọi món, quầy nhận đơn ngay lập tức, hệ thống tự trừ kho theo công thức và quản lý xem báo cáo. Phần back-end dùng Node.js, Express và SQL Server; em dùng công cụ AI Claude Code trong suốt quá trình làm.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quán nhỏ gọi món chậm và sai, không biết tồn kho thật, thu tiền chốt ca ghi tay. Mục tiêu em đặt ra đo được: đơn tới quầy dưới 2 giây, khách gọi một món không quá 3 chạm, không bao giờ âm kho khi nhiều khách gọi cùng lúc, và phân quyền 3 vai trò.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chia lớp: routes nhận request, kiểm quyền và kiểm dữ liệu vào bằng zod; services chứa nghiệp vụ; repositories truy vấn SQL hoặc gọi thủ tục. Các thao tác tiền và kho nằm trong thủ tục T-SQL có transaction để chống sai khi nhiều người bấm cùng lúc. Socket.io đẩy đơn mới tới quầy và trạng thái đơn tới điện thoại khách.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sở dữ liệu có 73 bảng, 174 khóa ngoại và 84 index. Quan hệ chính: danh mục 1-n món; món n-n nguyên liệu qua bảng công thức BomItems; bàn 1-n phiên 1-n đơn 1-n chi tiết đơn; đơn 1-n thanh toán. Tiền lưu kiểu DECIMAL, chữ tiếng Việt NVARCHAR với collation Vietnamese_CI_AS. Mọi thay đổi cấu trúc làm bằng file migration, chỉ thêm mới, không sửa file cũ.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nhóm người dùng. Khách quét QR, gọi món có tùy chọn và combo, theo dõi đơn, chia bill. Quầy nhận đơn ngay lập tức, có đồng hồ chờ đổi màu, lưới bàn để thu tiền và in bill, quản lý ca tiền mặt. Quản lý làm menu, kho, nhà cung cấp, hội viên, khuyến mãi và xem báo cáo, lãi lỗ, dự báo doanh thu. Tổng cộng 54 chức năng có đặc tả, 266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Bảo mật: nhân viên đăng nhập bằng JWT có hạn dùng, mật khẩu băm bcrypt. Phân quyền 3 vai trò kiểm ở server bằng middleware và bảng quyền, không chỉ ẩn nút ở giao diện — ví dụ chưa mở ca thì server trả lỗi 409. Mọi API kiểm dữ liệu vào bằng zod. Có helmet, giới hạn tần suất đăng nhập và gửi đơn. Truy vấn luôn có tham số; giá tiền luôn lấy từ CSDL.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Kiểm thử: 304 test tự động gồm unit test, test API và test thủ tục SQL; 45 kịch bản E2E chạy trên trình duyệt thật bằng Playwright, có cả kiểm tra khả năng tiếp cận. Kịch bản ép tải gửi 30 đơn đồng thời, 10 vòng đều không âm kho, thời gian đơn tới quầy p95 là 209 ms. Ma trận truy vết nối 335 tiêu chí chấp nhận tới test, tất cả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làm việc với AI theo 6 bước. Em viết trước file đặc tả gần 2.000 dòng và các file skill, nên prompt hằng ngày có thể ngắn mà AI vẫn đủ bối cảnh. Yêu cầu chưa rõ thì AI hỏi lại bằng câu trắc nghiệm. Mỗi việc có quyết định và kế hoạch ghi lại, rồi mới viết code và test. Sau đó một phiên AI khác review chỉ đọc. Ví dụ prompt bắt buộc mở ca: AI hỏi 3 câu, em chọn phương án, kết quả là server chặn chứ không chỉ ẩn nút. Nhật ký đầy đủ 13 prompt quan trọng nằm trong file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Đoạn khó nhất là giữ kho khi gửi đơn. Nếu đọc tồn kho rồi mới trừ thì hai đơn đồng thời đều thấy còn hàng và kho bị âm. AI viết một câu UPDATE có điều kiện với khóa UPDLOCK, HOLDLOCK: khóa dòng nguyên liệu ngay khi đọc, chỉ cộng vào phần đang giữ khi khả dụng còn đủ, OUTPUT ghi lại nguyên liệu giữ được; nếu số dòng không khớp số nguyên liệu cần thì ROLLBACK và báo lỗi OUT_OF_STOCK kèm tên món. Em kiểm chứng bằng test 20 phiên gửi đồng thời khi kho chỉ đủ 1 suất: đúng 1 đơn thành công.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cũng sai. Lỗi nặng nhất: hoàn tiền kèm hoàn kho sau khi đã ghi hủy món, kho bị cộng hai lần — phát hiện nhờ review thủ tục SQL. Bàn chia bill bị kẹt mở vì thiếu bước đóng phiên. Có lần AI báo cáo sai kết quả test, em yêu cầu chạy lại và sửa. Lỗi giao diện "Mất kết nối" đỏ khi chuyển trang do hiểu nhầm sự kiện đóng kết nối. Cách em bắt lỗi AI: review bằng một phiên AI khác, bắt test mới phải đỏ trên code cũ, và không tin chữ PASS nếu không có kết quả chạy thật. Danh sách đủ 16 lỗi nằm trong nhật ký 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hệ thống có 54 chức năng có đặc tả, 266 API, 73 bảng, toàn bộ test đều PASS, kèm nhật ký prompt, quyết định thiết kế và nhật ký lỗi. Hướng phát triển: thanh toán online tự xác nhận và in bill, cài đặt chạy thật ở quán với VPS dự phòng, thêm trang Swagger cho API, và thử nghiệm với nhân viên thật. Em cảm ơn thầy cô đã lắng nghe.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24170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5394960" cy="10058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2148840"/>
            <a:ext cx="539496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24170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Cafe QR · Đồ án Back-end tích hợp AI</a:t>
            </a:r>
            <a:endParaRPr lang="en-US" sz="10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jp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5394960" cy="1005840"/>
          </a:xfrm>
          <a:prstGeom prst="rect">
            <a:avLst/>
          </a:prstGeom>
          <a:noFill/>
          <a:ln/>
        </p:spPr>
        <p:txBody>
          <a:bodyPr wrap="square" lIns="0" tIns="0" rIns="0" bIns="0" rtlCol="0" anchor="b"/>
          <a:lstStyle/>
          <a:p>
            <a:pPr algn="l" indent="0" marL="0">
              <a:buNone/>
            </a:pPr>
            <a:r>
              <a:rPr lang="en-US" sz="5400" b="1" dirty="0">
                <a:solidFill>
                  <a:schemeClr val="bg1"/>
                </a:solidFill>
              </a:rPr>
              <a:t>Cafe QR</a:t>
            </a:r>
            <a:endParaRPr lang="en-US" sz="5400" dirty="0"/>
          </a:p>
        </p:txBody>
      </p:sp>
      <p:sp>
        <p:nvSpPr>
          <p:cNvPr id="3" name="Text 0"/>
          <p:cNvSpPr/>
          <p:nvPr>
            <p:ph idx="101" type="body" hasCustomPrompt="1"/>
          </p:nvPr>
        </p:nvSpPr>
        <p:spPr>
          <a:xfrm>
            <a:off x="548640" y="2148840"/>
            <a:ext cx="5394960" cy="822960"/>
          </a:xfrm>
          <a:prstGeom prst="rect">
            <a:avLst/>
          </a:prstGeom>
          <a:noFill/>
          <a:ln/>
        </p:spPr>
        <p:txBody>
          <a:bodyPr wrap="square" lIns="0" tIns="0" rIns="0" bIns="0" rtlCol="0" anchor="t"/>
          <a:lstStyle/>
          <a:p>
            <a:pPr algn="l" indent="0" marL="0">
              <a:buNone/>
            </a:pPr>
            <a:r>
              <a:rPr lang="en-US" sz="2000" dirty="0">
                <a:solidFill>
                  <a:schemeClr val="bg2"/>
                </a:solidFill>
              </a:rPr>
              <a:t>Gọi món bằng mã QR &amp; quản lý quán cà phê nhỏ</a:t>
            </a:r>
            <a:endParaRPr lang="en-US" sz="2000" dirty="0"/>
          </a:p>
        </p:txBody>
      </p:sp>
      <p:sp>
        <p:nvSpPr>
          <p:cNvPr id="4" name="icon-bg-LuQrCode"/>
          <p:cNvSpPr/>
          <p:nvPr/>
        </p:nvSpPr>
        <p:spPr>
          <a:xfrm>
            <a:off x="548640" y="411480"/>
            <a:ext cx="502920" cy="502920"/>
          </a:xfrm>
          <a:prstGeom prst="ellipse">
            <a:avLst/>
          </a:prstGeom>
          <a:solidFill>
            <a:schemeClr val="accent1"/>
          </a:solidFill>
          <a:ln/>
        </p:spPr>
      </p:sp>
      <p:pic>
        <p:nvPicPr>
          <p:cNvPr id="5" name="icon-LuQrCode" descr="preencoded.png">    </p:cNvPr>
          <p:cNvPicPr>
            <a:picLocks noChangeAspect="1"/>
          </p:cNvPicPr>
          <p:nvPr/>
        </p:nvPicPr>
        <p:blipFill>
          <a:blip r:embed="rId1"/>
          <a:stretch>
            <a:fillRect/>
          </a:stretch>
        </p:blipFill>
        <p:spPr>
          <a:xfrm>
            <a:off x="669341" y="532181"/>
            <a:ext cx="261518" cy="261518"/>
          </a:xfrm>
          <a:prstGeom prst="rect">
            <a:avLst/>
          </a:prstGeom>
        </p:spPr>
      </p:pic>
      <p:sp>
        <p:nvSpPr>
          <p:cNvPr id="6" name="Text 3"/>
          <p:cNvSpPr txBox="1"/>
          <p:nvPr/>
        </p:nvSpPr>
        <p:spPr>
          <a:xfrm>
            <a:off x="548640" y="3154680"/>
            <a:ext cx="5394960" cy="548640"/>
          </a:xfrm>
          <a:prstGeom prst="rect">
            <a:avLst/>
          </a:prstGeom>
          <a:noFill/>
          <a:ln/>
        </p:spPr>
        <p:txBody>
          <a:bodyPr wrap="square" lIns="0" tIns="0" rIns="0" bIns="0" rtlCol="0" anchor="t"/>
          <a:lstStyle/>
          <a:p>
            <a:pPr indent="0" marL="0">
              <a:buNone/>
            </a:pPr>
            <a:r>
              <a:rPr lang="en-US" sz="1500" dirty="0">
                <a:solidFill>
                  <a:schemeClr val="accent1"/>
                </a:solidFill>
              </a:rPr>
              <a:t>Đồ án cuối khóa · Back-end Node.js + Express + SQL Server tích hợp AI</a:t>
            </a:r>
            <a:endParaRPr lang="en-US" sz="1500" dirty="0"/>
          </a:p>
        </p:txBody>
      </p:sp>
      <p:sp>
        <p:nvSpPr>
          <p:cNvPr id="7" name="Text 4"/>
          <p:cNvSpPr txBox="1"/>
          <p:nvPr/>
        </p:nvSpPr>
        <p:spPr>
          <a:xfrm>
            <a:off x="548640" y="4160520"/>
            <a:ext cx="5394960" cy="320040"/>
          </a:xfrm>
          <a:prstGeom prst="rect">
            <a:avLst/>
          </a:prstGeom>
          <a:noFill/>
          <a:ln/>
        </p:spPr>
        <p:txBody>
          <a:bodyPr wrap="square" lIns="0" tIns="0" rIns="0" bIns="0" rtlCol="0" anchor="t"/>
          <a:lstStyle/>
          <a:p>
            <a:pPr indent="0" marL="0">
              <a:buNone/>
            </a:pPr>
            <a:r>
              <a:rPr lang="en-US" sz="1300" dirty="0">
                <a:solidFill>
                  <a:schemeClr val="bg2"/>
                </a:solidFill>
              </a:rPr>
              <a:t>Sinh viên: …………………   Lớp: …………   Ngày 23/10/2026</a:t>
            </a:r>
            <a:endParaRPr lang="en-US" sz="1300" dirty="0"/>
          </a:p>
        </p:txBody>
      </p:sp>
      <p:sp>
        <p:nvSpPr>
          <p:cNvPr id="8" name="phone-frame"/>
          <p:cNvSpPr/>
          <p:nvPr/>
        </p:nvSpPr>
        <p:spPr>
          <a:xfrm>
            <a:off x="6446520" y="384048"/>
            <a:ext cx="2084832" cy="4370832"/>
          </a:xfrm>
          <a:prstGeom prst="roundRect">
            <a:avLst>
              <a:gd name="adj" fmla="val 9649"/>
            </a:avLst>
          </a:prstGeom>
          <a:solidFill>
            <a:srgbClr val="33231A"/>
          </a:solidFill>
          <a:ln w="12700">
            <a:solidFill>
              <a:srgbClr val="C8873F"/>
            </a:solidFill>
            <a:prstDash val="solid"/>
          </a:ln>
        </p:spPr>
      </p:sp>
      <p:pic>
        <p:nvPicPr>
          <p:cNvPr id="9" name="phone-menu" descr="Màn thực đơn của khách trên điện thoại">    </p:cNvPr>
          <p:cNvPicPr>
            <a:picLocks noChangeAspect="1"/>
          </p:cNvPicPr>
          <p:nvPr/>
        </p:nvPicPr>
        <p:blipFill>
          <a:blip r:embed="rId2"/>
          <a:stretch>
            <a:fillRect/>
          </a:stretch>
        </p:blipFill>
        <p:spPr>
          <a:xfrm>
            <a:off x="6556248" y="502920"/>
            <a:ext cx="1865376" cy="40416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Vấn đề của quán và mục tiêu</a:t>
            </a:r>
            <a:endParaRPr lang="en-US" sz="3000" dirty="0"/>
          </a:p>
        </p:txBody>
      </p:sp>
      <p:sp>
        <p:nvSpPr>
          <p:cNvPr id="3" name="Text 1"/>
          <p:cNvSpPr txBox="1"/>
          <p:nvPr/>
        </p:nvSpPr>
        <p:spPr>
          <a:xfrm>
            <a:off x="457200" y="1097280"/>
            <a:ext cx="3931920" cy="365760"/>
          </a:xfrm>
          <a:prstGeom prst="rect">
            <a:avLst/>
          </a:prstGeom>
          <a:noFill/>
          <a:ln/>
        </p:spPr>
        <p:txBody>
          <a:bodyPr wrap="square" lIns="0" tIns="0" rIns="0" bIns="0" rtlCol="0" anchor="t"/>
          <a:lstStyle/>
          <a:p>
            <a:pPr indent="0" marL="0">
              <a:buNone/>
            </a:pPr>
            <a:r>
              <a:rPr lang="en-US" sz="1800" b="1" dirty="0">
                <a:solidFill>
                  <a:schemeClr val="tx2"/>
                </a:solidFill>
              </a:rPr>
              <a:t>Quán nhỏ đang gặp</a:t>
            </a:r>
            <a:endParaRPr lang="en-US" sz="1800" dirty="0"/>
          </a:p>
        </p:txBody>
      </p:sp>
      <p:sp>
        <p:nvSpPr>
          <p:cNvPr id="4" name="icon-bg-LuTimer"/>
          <p:cNvSpPr/>
          <p:nvPr/>
        </p:nvSpPr>
        <p:spPr>
          <a:xfrm>
            <a:off x="457200" y="1600200"/>
            <a:ext cx="502920" cy="502920"/>
          </a:xfrm>
          <a:prstGeom prst="ellipse">
            <a:avLst/>
          </a:prstGeom>
          <a:solidFill>
            <a:schemeClr val="accent1"/>
          </a:solidFill>
          <a:ln/>
        </p:spPr>
      </p:sp>
      <p:pic>
        <p:nvPicPr>
          <p:cNvPr id="5" name="icon-LuTimer" descr="preencoded.png">    </p:cNvPr>
          <p:cNvPicPr>
            <a:picLocks noChangeAspect="1"/>
          </p:cNvPicPr>
          <p:nvPr/>
        </p:nvPicPr>
        <p:blipFill>
          <a:blip r:embed="rId1"/>
          <a:stretch>
            <a:fillRect/>
          </a:stretch>
        </p:blipFill>
        <p:spPr>
          <a:xfrm>
            <a:off x="577901" y="1720901"/>
            <a:ext cx="261518" cy="261518"/>
          </a:xfrm>
          <a:prstGeom prst="rect">
            <a:avLst/>
          </a:prstGeom>
        </p:spPr>
      </p:pic>
      <p:sp>
        <p:nvSpPr>
          <p:cNvPr id="6" name="Text 3"/>
          <p:cNvSpPr txBox="1"/>
          <p:nvPr/>
        </p:nvSpPr>
        <p:spPr>
          <a:xfrm>
            <a:off x="1143000" y="1581912"/>
            <a:ext cx="3291840" cy="320040"/>
          </a:xfrm>
          <a:prstGeom prst="rect">
            <a:avLst/>
          </a:prstGeom>
          <a:noFill/>
          <a:ln/>
        </p:spPr>
        <p:txBody>
          <a:bodyPr wrap="square" lIns="0" tIns="0" rIns="0" bIns="0" rtlCol="0" anchor="t"/>
          <a:lstStyle/>
          <a:p>
            <a:pPr indent="0" marL="0">
              <a:buNone/>
            </a:pPr>
            <a:r>
              <a:rPr lang="en-US" sz="1600" b="1" dirty="0">
                <a:solidFill>
                  <a:schemeClr val="tx1"/>
                </a:solidFill>
              </a:rPr>
              <a:t>Gọi món chậm, ghi sai món</a:t>
            </a:r>
            <a:endParaRPr lang="en-US" sz="1600" dirty="0"/>
          </a:p>
        </p:txBody>
      </p:sp>
      <p:sp>
        <p:nvSpPr>
          <p:cNvPr id="7" name="Text 4"/>
          <p:cNvSpPr txBox="1"/>
          <p:nvPr/>
        </p:nvSpPr>
        <p:spPr>
          <a:xfrm>
            <a:off x="1143000" y="1901952"/>
            <a:ext cx="3291840" cy="548640"/>
          </a:xfrm>
          <a:prstGeom prst="rect">
            <a:avLst/>
          </a:prstGeom>
          <a:noFill/>
          <a:ln/>
        </p:spPr>
        <p:txBody>
          <a:bodyPr wrap="square" lIns="0" tIns="0" rIns="0" bIns="0" rtlCol="0" anchor="t"/>
          <a:lstStyle/>
          <a:p>
            <a:pPr indent="0" marL="0">
              <a:buNone/>
            </a:pPr>
            <a:r>
              <a:rPr lang="en-US" sz="1300" dirty="0">
                <a:solidFill>
                  <a:schemeClr val="accent6"/>
                </a:solidFill>
              </a:rPr>
              <a:t>Giờ đông khách nhân viên chạy bàn không kịp, ghi giấy dễ nhầm.</a:t>
            </a:r>
            <a:endParaRPr lang="en-US" sz="1300" dirty="0"/>
          </a:p>
        </p:txBody>
      </p:sp>
      <p:sp>
        <p:nvSpPr>
          <p:cNvPr id="8" name="icon-bg-LuPackage"/>
          <p:cNvSpPr/>
          <p:nvPr/>
        </p:nvSpPr>
        <p:spPr>
          <a:xfrm>
            <a:off x="457200" y="2606040"/>
            <a:ext cx="502920" cy="502920"/>
          </a:xfrm>
          <a:prstGeom prst="ellipse">
            <a:avLst/>
          </a:prstGeom>
          <a:solidFill>
            <a:schemeClr val="accent1"/>
          </a:solidFill>
          <a:ln/>
        </p:spPr>
      </p:sp>
      <p:pic>
        <p:nvPicPr>
          <p:cNvPr id="9" name="icon-LuPackage" descr="preencoded.png">    </p:cNvPr>
          <p:cNvPicPr>
            <a:picLocks noChangeAspect="1"/>
          </p:cNvPicPr>
          <p:nvPr/>
        </p:nvPicPr>
        <p:blipFill>
          <a:blip r:embed="rId2"/>
          <a:stretch>
            <a:fillRect/>
          </a:stretch>
        </p:blipFill>
        <p:spPr>
          <a:xfrm>
            <a:off x="577901" y="2726741"/>
            <a:ext cx="261518" cy="261518"/>
          </a:xfrm>
          <a:prstGeom prst="rect">
            <a:avLst/>
          </a:prstGeom>
        </p:spPr>
      </p:pic>
      <p:sp>
        <p:nvSpPr>
          <p:cNvPr id="10" name="Text 6"/>
          <p:cNvSpPr txBox="1"/>
          <p:nvPr/>
        </p:nvSpPr>
        <p:spPr>
          <a:xfrm>
            <a:off x="1143000" y="2587752"/>
            <a:ext cx="3291840" cy="320040"/>
          </a:xfrm>
          <a:prstGeom prst="rect">
            <a:avLst/>
          </a:prstGeom>
          <a:noFill/>
          <a:ln/>
        </p:spPr>
        <p:txBody>
          <a:bodyPr wrap="square" lIns="0" tIns="0" rIns="0" bIns="0" rtlCol="0" anchor="t"/>
          <a:lstStyle/>
          <a:p>
            <a:pPr indent="0" marL="0">
              <a:buNone/>
            </a:pPr>
            <a:r>
              <a:rPr lang="en-US" sz="1600" b="1" dirty="0">
                <a:solidFill>
                  <a:schemeClr val="tx1"/>
                </a:solidFill>
              </a:rPr>
              <a:t>Không biết tồn kho thật</a:t>
            </a:r>
            <a:endParaRPr lang="en-US" sz="1600" dirty="0"/>
          </a:p>
        </p:txBody>
      </p:sp>
      <p:sp>
        <p:nvSpPr>
          <p:cNvPr id="11" name="Text 7"/>
          <p:cNvSpPr txBox="1"/>
          <p:nvPr/>
        </p:nvSpPr>
        <p:spPr>
          <a:xfrm>
            <a:off x="1143000" y="2907792"/>
            <a:ext cx="3291840" cy="548640"/>
          </a:xfrm>
          <a:prstGeom prst="rect">
            <a:avLst/>
          </a:prstGeom>
          <a:noFill/>
          <a:ln/>
        </p:spPr>
        <p:txBody>
          <a:bodyPr wrap="square" lIns="0" tIns="0" rIns="0" bIns="0" rtlCol="0" anchor="t"/>
          <a:lstStyle/>
          <a:p>
            <a:pPr indent="0" marL="0">
              <a:buNone/>
            </a:pPr>
            <a:r>
              <a:rPr lang="en-US" sz="1300" dirty="0">
                <a:solidFill>
                  <a:schemeClr val="accent6"/>
                </a:solidFill>
              </a:rPr>
              <a:t>Bán cả món đã hết nguyên liệu; cuối ngày mới phát hiện.</a:t>
            </a:r>
            <a:endParaRPr lang="en-US" sz="1300" dirty="0"/>
          </a:p>
        </p:txBody>
      </p:sp>
      <p:sp>
        <p:nvSpPr>
          <p:cNvPr id="12" name="icon-bg-LuReceipt"/>
          <p:cNvSpPr/>
          <p:nvPr/>
        </p:nvSpPr>
        <p:spPr>
          <a:xfrm>
            <a:off x="457200" y="3611880"/>
            <a:ext cx="502920" cy="502920"/>
          </a:xfrm>
          <a:prstGeom prst="ellipse">
            <a:avLst/>
          </a:prstGeom>
          <a:solidFill>
            <a:schemeClr val="accent1"/>
          </a:solidFill>
          <a:ln/>
        </p:spPr>
      </p:sp>
      <p:pic>
        <p:nvPicPr>
          <p:cNvPr id="13" name="icon-LuReceipt" descr="preencoded.png">    </p:cNvPr>
          <p:cNvPicPr>
            <a:picLocks noChangeAspect="1"/>
          </p:cNvPicPr>
          <p:nvPr/>
        </p:nvPicPr>
        <p:blipFill>
          <a:blip r:embed="rId3"/>
          <a:stretch>
            <a:fillRect/>
          </a:stretch>
        </p:blipFill>
        <p:spPr>
          <a:xfrm>
            <a:off x="577901" y="3732581"/>
            <a:ext cx="261518" cy="261518"/>
          </a:xfrm>
          <a:prstGeom prst="rect">
            <a:avLst/>
          </a:prstGeom>
        </p:spPr>
      </p:pic>
      <p:sp>
        <p:nvSpPr>
          <p:cNvPr id="14" name="Text 9"/>
          <p:cNvSpPr txBox="1"/>
          <p:nvPr/>
        </p:nvSpPr>
        <p:spPr>
          <a:xfrm>
            <a:off x="1143000" y="3593592"/>
            <a:ext cx="3291840" cy="320040"/>
          </a:xfrm>
          <a:prstGeom prst="rect">
            <a:avLst/>
          </a:prstGeom>
          <a:noFill/>
          <a:ln/>
        </p:spPr>
        <p:txBody>
          <a:bodyPr wrap="square" lIns="0" tIns="0" rIns="0" bIns="0" rtlCol="0" anchor="t"/>
          <a:lstStyle/>
          <a:p>
            <a:pPr indent="0" marL="0">
              <a:buNone/>
            </a:pPr>
            <a:r>
              <a:rPr lang="en-US" sz="1600" b="1" dirty="0">
                <a:solidFill>
                  <a:schemeClr val="tx1"/>
                </a:solidFill>
              </a:rPr>
              <a:t>Thu tiền, chốt ca ghi tay</a:t>
            </a:r>
            <a:endParaRPr lang="en-US" sz="1600" dirty="0"/>
          </a:p>
        </p:txBody>
      </p:sp>
      <p:sp>
        <p:nvSpPr>
          <p:cNvPr id="15" name="Text 10"/>
          <p:cNvSpPr txBox="1"/>
          <p:nvPr/>
        </p:nvSpPr>
        <p:spPr>
          <a:xfrm>
            <a:off x="1143000" y="3913632"/>
            <a:ext cx="3291840" cy="548640"/>
          </a:xfrm>
          <a:prstGeom prst="rect">
            <a:avLst/>
          </a:prstGeom>
          <a:noFill/>
          <a:ln/>
        </p:spPr>
        <p:txBody>
          <a:bodyPr wrap="square" lIns="0" tIns="0" rIns="0" bIns="0" rtlCol="0" anchor="t"/>
          <a:lstStyle/>
          <a:p>
            <a:pPr indent="0" marL="0">
              <a:buNone/>
            </a:pPr>
            <a:r>
              <a:rPr lang="en-US" sz="1300" dirty="0">
                <a:solidFill>
                  <a:schemeClr val="accent6"/>
                </a:solidFill>
              </a:rPr>
              <a:t>Doanh thu, tiền két và kho khó đối chiếu.</a:t>
            </a:r>
            <a:endParaRPr lang="en-US" sz="1300" dirty="0"/>
          </a:p>
        </p:txBody>
      </p:sp>
      <p:sp>
        <p:nvSpPr>
          <p:cNvPr id="16" name="Text 11"/>
          <p:cNvSpPr txBox="1"/>
          <p:nvPr/>
        </p:nvSpPr>
        <p:spPr>
          <a:xfrm>
            <a:off x="4846320" y="1097280"/>
            <a:ext cx="3840480" cy="365760"/>
          </a:xfrm>
          <a:prstGeom prst="rect">
            <a:avLst/>
          </a:prstGeom>
          <a:noFill/>
          <a:ln/>
        </p:spPr>
        <p:txBody>
          <a:bodyPr wrap="square" lIns="0" tIns="0" rIns="0" bIns="0" rtlCol="0" anchor="t"/>
          <a:lstStyle/>
          <a:p>
            <a:pPr indent="0" marL="0">
              <a:buNone/>
            </a:pPr>
            <a:r>
              <a:rPr lang="en-US" sz="1800" b="1" dirty="0">
                <a:solidFill>
                  <a:schemeClr val="tx2"/>
                </a:solidFill>
              </a:rPr>
              <a:t>Mục tiêu đo được</a:t>
            </a:r>
            <a:endParaRPr lang="en-US" sz="1800" dirty="0"/>
          </a:p>
        </p:txBody>
      </p:sp>
      <p:sp>
        <p:nvSpPr>
          <p:cNvPr id="17" name="goal-0"/>
          <p:cNvSpPr/>
          <p:nvPr/>
        </p:nvSpPr>
        <p:spPr>
          <a:xfrm>
            <a:off x="4846320" y="1600200"/>
            <a:ext cx="1828800" cy="1280160"/>
          </a:xfrm>
          <a:prstGeom prst="roundRect">
            <a:avLst>
              <a:gd name="adj" fmla="val 8571"/>
            </a:avLst>
          </a:prstGeom>
          <a:solidFill>
            <a:schemeClr val="bg2"/>
          </a:solidFill>
          <a:ln/>
        </p:spPr>
      </p:sp>
      <p:sp>
        <p:nvSpPr>
          <p:cNvPr id="18" name="Text 13"/>
          <p:cNvSpPr txBox="1"/>
          <p:nvPr/>
        </p:nvSpPr>
        <p:spPr>
          <a:xfrm>
            <a:off x="4983480" y="1764792"/>
            <a:ext cx="1554480" cy="54864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&lt; 2 giây</a:t>
            </a:r>
            <a:endParaRPr lang="en-US" sz="3000" dirty="0"/>
          </a:p>
        </p:txBody>
      </p:sp>
      <p:sp>
        <p:nvSpPr>
          <p:cNvPr id="19" name="Text 14"/>
          <p:cNvSpPr txBox="1"/>
          <p:nvPr/>
        </p:nvSpPr>
        <p:spPr>
          <a:xfrm>
            <a:off x="4983480" y="2350008"/>
            <a:ext cx="1554480" cy="457200"/>
          </a:xfrm>
          <a:prstGeom prst="rect">
            <a:avLst/>
          </a:prstGeom>
          <a:noFill/>
          <a:ln/>
        </p:spPr>
        <p:txBody>
          <a:bodyPr wrap="square" lIns="0" tIns="0" rIns="0" bIns="0" rtlCol="0" anchor="t"/>
          <a:lstStyle/>
          <a:p>
            <a:pPr indent="0" marL="0">
              <a:buNone/>
            </a:pPr>
            <a:r>
              <a:rPr lang="en-US" sz="1200" dirty="0">
                <a:solidFill>
                  <a:schemeClr val="tx1"/>
                </a:solidFill>
              </a:rPr>
              <a:t>để đơn của khách hiện ở quầy</a:t>
            </a:r>
            <a:endParaRPr lang="en-US" sz="1200" dirty="0"/>
          </a:p>
        </p:txBody>
      </p:sp>
      <p:sp>
        <p:nvSpPr>
          <p:cNvPr id="20" name="goal-1"/>
          <p:cNvSpPr/>
          <p:nvPr/>
        </p:nvSpPr>
        <p:spPr>
          <a:xfrm>
            <a:off x="6812280" y="1600200"/>
            <a:ext cx="1828800" cy="1280160"/>
          </a:xfrm>
          <a:prstGeom prst="roundRect">
            <a:avLst>
              <a:gd name="adj" fmla="val 8571"/>
            </a:avLst>
          </a:prstGeom>
          <a:solidFill>
            <a:schemeClr val="bg2"/>
          </a:solidFill>
          <a:ln/>
        </p:spPr>
      </p:sp>
      <p:sp>
        <p:nvSpPr>
          <p:cNvPr id="21" name="Text 16"/>
          <p:cNvSpPr txBox="1"/>
          <p:nvPr/>
        </p:nvSpPr>
        <p:spPr>
          <a:xfrm>
            <a:off x="6949440" y="1764792"/>
            <a:ext cx="1554480" cy="54864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 3</a:t>
            </a:r>
            <a:endParaRPr lang="en-US" sz="3000" dirty="0"/>
          </a:p>
        </p:txBody>
      </p:sp>
      <p:sp>
        <p:nvSpPr>
          <p:cNvPr id="22" name="Text 17"/>
          <p:cNvSpPr txBox="1"/>
          <p:nvPr/>
        </p:nvSpPr>
        <p:spPr>
          <a:xfrm>
            <a:off x="6949440" y="2350008"/>
            <a:ext cx="1554480" cy="457200"/>
          </a:xfrm>
          <a:prstGeom prst="rect">
            <a:avLst/>
          </a:prstGeom>
          <a:noFill/>
          <a:ln/>
        </p:spPr>
        <p:txBody>
          <a:bodyPr wrap="square" lIns="0" tIns="0" rIns="0" bIns="0" rtlCol="0" anchor="t"/>
          <a:lstStyle/>
          <a:p>
            <a:pPr indent="0" marL="0">
              <a:buNone/>
            </a:pPr>
            <a:r>
              <a:rPr lang="en-US" sz="1200" dirty="0">
                <a:solidFill>
                  <a:schemeClr val="tx1"/>
                </a:solidFill>
              </a:rPr>
              <a:t>chạm để khách gọi xong một món</a:t>
            </a:r>
            <a:endParaRPr lang="en-US" sz="1200" dirty="0"/>
          </a:p>
        </p:txBody>
      </p:sp>
      <p:sp>
        <p:nvSpPr>
          <p:cNvPr id="23" name="goal-2"/>
          <p:cNvSpPr/>
          <p:nvPr/>
        </p:nvSpPr>
        <p:spPr>
          <a:xfrm>
            <a:off x="4846320" y="3063240"/>
            <a:ext cx="1828800" cy="1280160"/>
          </a:xfrm>
          <a:prstGeom prst="roundRect">
            <a:avLst>
              <a:gd name="adj" fmla="val 8571"/>
            </a:avLst>
          </a:prstGeom>
          <a:solidFill>
            <a:schemeClr val="bg2"/>
          </a:solidFill>
          <a:ln/>
        </p:spPr>
      </p:sp>
      <p:sp>
        <p:nvSpPr>
          <p:cNvPr id="24" name="Text 19"/>
          <p:cNvSpPr txBox="1"/>
          <p:nvPr/>
        </p:nvSpPr>
        <p:spPr>
          <a:xfrm>
            <a:off x="4983480" y="3227832"/>
            <a:ext cx="1554480" cy="54864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0</a:t>
            </a:r>
            <a:endParaRPr lang="en-US" sz="3000" dirty="0"/>
          </a:p>
        </p:txBody>
      </p:sp>
      <p:sp>
        <p:nvSpPr>
          <p:cNvPr id="25" name="Text 20"/>
          <p:cNvSpPr txBox="1"/>
          <p:nvPr/>
        </p:nvSpPr>
        <p:spPr>
          <a:xfrm>
            <a:off x="4983480" y="3813048"/>
            <a:ext cx="1554480" cy="457200"/>
          </a:xfrm>
          <a:prstGeom prst="rect">
            <a:avLst/>
          </a:prstGeom>
          <a:noFill/>
          <a:ln/>
        </p:spPr>
        <p:txBody>
          <a:bodyPr wrap="square" lIns="0" tIns="0" rIns="0" bIns="0" rtlCol="0" anchor="t"/>
          <a:lstStyle/>
          <a:p>
            <a:pPr indent="0" marL="0">
              <a:buNone/>
            </a:pPr>
            <a:r>
              <a:rPr lang="en-US" sz="1200" dirty="0">
                <a:solidFill>
                  <a:schemeClr val="tx1"/>
                </a:solidFill>
              </a:rPr>
              <a:t>lần âm kho khi nhiều khách gọi cùng lúc</a:t>
            </a:r>
            <a:endParaRPr lang="en-US" sz="1200" dirty="0"/>
          </a:p>
        </p:txBody>
      </p:sp>
      <p:sp>
        <p:nvSpPr>
          <p:cNvPr id="26" name="goal-3"/>
          <p:cNvSpPr/>
          <p:nvPr/>
        </p:nvSpPr>
        <p:spPr>
          <a:xfrm>
            <a:off x="6812280" y="3063240"/>
            <a:ext cx="1828800" cy="1280160"/>
          </a:xfrm>
          <a:prstGeom prst="roundRect">
            <a:avLst>
              <a:gd name="adj" fmla="val 8571"/>
            </a:avLst>
          </a:prstGeom>
          <a:solidFill>
            <a:schemeClr val="bg2"/>
          </a:solidFill>
          <a:ln/>
        </p:spPr>
      </p:sp>
      <p:sp>
        <p:nvSpPr>
          <p:cNvPr id="27" name="Text 22"/>
          <p:cNvSpPr txBox="1"/>
          <p:nvPr/>
        </p:nvSpPr>
        <p:spPr>
          <a:xfrm>
            <a:off x="6949440" y="3227832"/>
            <a:ext cx="1554480" cy="54864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3</a:t>
            </a:r>
            <a:endParaRPr lang="en-US" sz="3000" dirty="0"/>
          </a:p>
        </p:txBody>
      </p:sp>
      <p:sp>
        <p:nvSpPr>
          <p:cNvPr id="28" name="Text 23"/>
          <p:cNvSpPr txBox="1"/>
          <p:nvPr/>
        </p:nvSpPr>
        <p:spPr>
          <a:xfrm>
            <a:off x="6949440" y="3813048"/>
            <a:ext cx="1554480" cy="457200"/>
          </a:xfrm>
          <a:prstGeom prst="rect">
            <a:avLst/>
          </a:prstGeom>
          <a:noFill/>
          <a:ln/>
        </p:spPr>
        <p:txBody>
          <a:bodyPr wrap="square" lIns="0" tIns="0" rIns="0" bIns="0" rtlCol="0" anchor="t"/>
          <a:lstStyle/>
          <a:p>
            <a:pPr indent="0" marL="0">
              <a:buNone/>
            </a:pPr>
            <a:r>
              <a:rPr lang="en-US" sz="1200" dirty="0">
                <a:solidFill>
                  <a:schemeClr val="tx1"/>
                </a:solidFill>
              </a:rPr>
              <a:t>vai trò: Quản lý · Trưởng ca · Nhân viên</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Kiến trúc hệ thống</a:t>
            </a:r>
            <a:endParaRPr lang="en-US" sz="3000" dirty="0"/>
          </a:p>
        </p:txBody>
      </p:sp>
      <p:sp>
        <p:nvSpPr>
          <p:cNvPr id="3" name="client-0"/>
          <p:cNvSpPr/>
          <p:nvPr/>
        </p:nvSpPr>
        <p:spPr>
          <a:xfrm>
            <a:off x="457200" y="1188720"/>
            <a:ext cx="2240280" cy="914400"/>
          </a:xfrm>
          <a:prstGeom prst="roundRect">
            <a:avLst>
              <a:gd name="adj" fmla="val 12000"/>
            </a:avLst>
          </a:prstGeom>
          <a:solidFill>
            <a:schemeClr val="bg2"/>
          </a:solidFill>
          <a:ln/>
        </p:spPr>
      </p:sp>
      <p:sp>
        <p:nvSpPr>
          <p:cNvPr id="4" name="icon-bg-LuSmartphone"/>
          <p:cNvSpPr/>
          <p:nvPr/>
        </p:nvSpPr>
        <p:spPr>
          <a:xfrm>
            <a:off x="594360" y="1389888"/>
            <a:ext cx="502920" cy="502920"/>
          </a:xfrm>
          <a:prstGeom prst="ellipse">
            <a:avLst/>
          </a:prstGeom>
          <a:solidFill>
            <a:schemeClr val="accent1"/>
          </a:solidFill>
          <a:ln/>
        </p:spPr>
      </p:sp>
      <p:pic>
        <p:nvPicPr>
          <p:cNvPr id="5" name="icon-LuSmartphone" descr="preencoded.png">    </p:cNvPr>
          <p:cNvPicPr>
            <a:picLocks noChangeAspect="1"/>
          </p:cNvPicPr>
          <p:nvPr/>
        </p:nvPicPr>
        <p:blipFill>
          <a:blip r:embed="rId1"/>
          <a:stretch>
            <a:fillRect/>
          </a:stretch>
        </p:blipFill>
        <p:spPr>
          <a:xfrm>
            <a:off x="715061" y="1510589"/>
            <a:ext cx="261518" cy="261518"/>
          </a:xfrm>
          <a:prstGeom prst="rect">
            <a:avLst/>
          </a:prstGeom>
        </p:spPr>
      </p:pic>
      <p:sp>
        <p:nvSpPr>
          <p:cNvPr id="6" name="Text 3"/>
          <p:cNvSpPr txBox="1"/>
          <p:nvPr/>
        </p:nvSpPr>
        <p:spPr>
          <a:xfrm>
            <a:off x="1234440" y="1371600"/>
            <a:ext cx="1371600" cy="292608"/>
          </a:xfrm>
          <a:prstGeom prst="rect">
            <a:avLst/>
          </a:prstGeom>
          <a:noFill/>
          <a:ln/>
        </p:spPr>
        <p:txBody>
          <a:bodyPr wrap="square" lIns="0" tIns="0" rIns="0" bIns="0" rtlCol="0" anchor="t"/>
          <a:lstStyle/>
          <a:p>
            <a:pPr indent="0" marL="0">
              <a:buNone/>
            </a:pPr>
            <a:r>
              <a:rPr lang="en-US" sz="1500" b="1" dirty="0">
                <a:solidFill>
                  <a:schemeClr val="tx1"/>
                </a:solidFill>
              </a:rPr>
              <a:t>Khách</a:t>
            </a:r>
            <a:endParaRPr lang="en-US" sz="1500" dirty="0"/>
          </a:p>
        </p:txBody>
      </p:sp>
      <p:sp>
        <p:nvSpPr>
          <p:cNvPr id="7" name="Text 4"/>
          <p:cNvSpPr txBox="1"/>
          <p:nvPr/>
        </p:nvSpPr>
        <p:spPr>
          <a:xfrm>
            <a:off x="1234440" y="1664208"/>
            <a:ext cx="1417320" cy="320040"/>
          </a:xfrm>
          <a:prstGeom prst="rect">
            <a:avLst/>
          </a:prstGeom>
          <a:noFill/>
          <a:ln/>
        </p:spPr>
        <p:txBody>
          <a:bodyPr wrap="square" lIns="0" tIns="0" rIns="0" bIns="0" rtlCol="0" anchor="t"/>
          <a:lstStyle/>
          <a:p>
            <a:pPr indent="0" marL="0">
              <a:buNone/>
            </a:pPr>
            <a:r>
              <a:rPr lang="en-US" sz="1100" dirty="0">
                <a:solidFill>
                  <a:schemeClr val="accent6"/>
                </a:solidFill>
              </a:rPr>
              <a:t>Điện thoại quét QR</a:t>
            </a:r>
            <a:endParaRPr lang="en-US" sz="1100" dirty="0"/>
          </a:p>
        </p:txBody>
      </p:sp>
      <p:sp>
        <p:nvSpPr>
          <p:cNvPr id="8" name="arrow-client-0"/>
          <p:cNvSpPr/>
          <p:nvPr/>
        </p:nvSpPr>
        <p:spPr>
          <a:xfrm>
            <a:off x="2743200" y="1645920"/>
            <a:ext cx="411480" cy="0"/>
          </a:xfrm>
          <a:prstGeom prst="line">
            <a:avLst/>
          </a:prstGeom>
          <a:noFill/>
          <a:ln w="19050">
            <a:solidFill>
              <a:srgbClr val="68533F"/>
            </a:solidFill>
            <a:prstDash val="solid"/>
            <a:tailEnd type="triangle"/>
          </a:ln>
        </p:spPr>
      </p:sp>
      <p:sp>
        <p:nvSpPr>
          <p:cNvPr id="9" name="client-1"/>
          <p:cNvSpPr/>
          <p:nvPr/>
        </p:nvSpPr>
        <p:spPr>
          <a:xfrm>
            <a:off x="457200" y="2304288"/>
            <a:ext cx="2240280" cy="914400"/>
          </a:xfrm>
          <a:prstGeom prst="roundRect">
            <a:avLst>
              <a:gd name="adj" fmla="val 12000"/>
            </a:avLst>
          </a:prstGeom>
          <a:solidFill>
            <a:schemeClr val="bg2"/>
          </a:solidFill>
          <a:ln/>
        </p:spPr>
      </p:sp>
      <p:sp>
        <p:nvSpPr>
          <p:cNvPr id="10" name="icon-bg-LuMonitor"/>
          <p:cNvSpPr/>
          <p:nvPr/>
        </p:nvSpPr>
        <p:spPr>
          <a:xfrm>
            <a:off x="594360" y="2505456"/>
            <a:ext cx="502920" cy="502920"/>
          </a:xfrm>
          <a:prstGeom prst="ellipse">
            <a:avLst/>
          </a:prstGeom>
          <a:solidFill>
            <a:schemeClr val="accent1"/>
          </a:solidFill>
          <a:ln/>
        </p:spPr>
      </p:sp>
      <p:pic>
        <p:nvPicPr>
          <p:cNvPr id="11" name="icon-LuMonitor" descr="preencoded.png">    </p:cNvPr>
          <p:cNvPicPr>
            <a:picLocks noChangeAspect="1"/>
          </p:cNvPicPr>
          <p:nvPr/>
        </p:nvPicPr>
        <p:blipFill>
          <a:blip r:embed="rId2"/>
          <a:stretch>
            <a:fillRect/>
          </a:stretch>
        </p:blipFill>
        <p:spPr>
          <a:xfrm>
            <a:off x="715061" y="2626157"/>
            <a:ext cx="261518" cy="261518"/>
          </a:xfrm>
          <a:prstGeom prst="rect">
            <a:avLst/>
          </a:prstGeom>
        </p:spPr>
      </p:pic>
      <p:sp>
        <p:nvSpPr>
          <p:cNvPr id="12" name="Text 8"/>
          <p:cNvSpPr txBox="1"/>
          <p:nvPr/>
        </p:nvSpPr>
        <p:spPr>
          <a:xfrm>
            <a:off x="1234440" y="2487168"/>
            <a:ext cx="1371600" cy="292608"/>
          </a:xfrm>
          <a:prstGeom prst="rect">
            <a:avLst/>
          </a:prstGeom>
          <a:noFill/>
          <a:ln/>
        </p:spPr>
        <p:txBody>
          <a:bodyPr wrap="square" lIns="0" tIns="0" rIns="0" bIns="0" rtlCol="0" anchor="t"/>
          <a:lstStyle/>
          <a:p>
            <a:pPr indent="0" marL="0">
              <a:buNone/>
            </a:pPr>
            <a:r>
              <a:rPr lang="en-US" sz="1500" b="1" dirty="0">
                <a:solidFill>
                  <a:schemeClr val="tx1"/>
                </a:solidFill>
              </a:rPr>
              <a:t>Quầy</a:t>
            </a:r>
            <a:endParaRPr lang="en-US" sz="1500" dirty="0"/>
          </a:p>
        </p:txBody>
      </p:sp>
      <p:sp>
        <p:nvSpPr>
          <p:cNvPr id="13" name="Text 9"/>
          <p:cNvSpPr txBox="1"/>
          <p:nvPr/>
        </p:nvSpPr>
        <p:spPr>
          <a:xfrm>
            <a:off x="1234440" y="2779776"/>
            <a:ext cx="1417320" cy="320040"/>
          </a:xfrm>
          <a:prstGeom prst="rect">
            <a:avLst/>
          </a:prstGeom>
          <a:noFill/>
          <a:ln/>
        </p:spPr>
        <p:txBody>
          <a:bodyPr wrap="square" lIns="0" tIns="0" rIns="0" bIns="0" rtlCol="0" anchor="t"/>
          <a:lstStyle/>
          <a:p>
            <a:pPr indent="0" marL="0">
              <a:buNone/>
            </a:pPr>
            <a:r>
              <a:rPr lang="en-US" sz="1100" dirty="0">
                <a:solidFill>
                  <a:schemeClr val="accent6"/>
                </a:solidFill>
              </a:rPr>
              <a:t>Máy tính / máy tính bảng</a:t>
            </a:r>
            <a:endParaRPr lang="en-US" sz="1100" dirty="0"/>
          </a:p>
        </p:txBody>
      </p:sp>
      <p:sp>
        <p:nvSpPr>
          <p:cNvPr id="14" name="arrow-client-1"/>
          <p:cNvSpPr/>
          <p:nvPr/>
        </p:nvSpPr>
        <p:spPr>
          <a:xfrm>
            <a:off x="2743200" y="2761488"/>
            <a:ext cx="411480" cy="0"/>
          </a:xfrm>
          <a:prstGeom prst="line">
            <a:avLst/>
          </a:prstGeom>
          <a:noFill/>
          <a:ln w="19050">
            <a:solidFill>
              <a:srgbClr val="68533F"/>
            </a:solidFill>
            <a:prstDash val="solid"/>
            <a:tailEnd type="triangle"/>
          </a:ln>
        </p:spPr>
      </p:sp>
      <p:sp>
        <p:nvSpPr>
          <p:cNvPr id="15" name="client-2"/>
          <p:cNvSpPr/>
          <p:nvPr/>
        </p:nvSpPr>
        <p:spPr>
          <a:xfrm>
            <a:off x="457200" y="3419856"/>
            <a:ext cx="2240280" cy="914400"/>
          </a:xfrm>
          <a:prstGeom prst="roundRect">
            <a:avLst>
              <a:gd name="adj" fmla="val 12000"/>
            </a:avLst>
          </a:prstGeom>
          <a:solidFill>
            <a:schemeClr val="bg2"/>
          </a:solidFill>
          <a:ln/>
        </p:spPr>
      </p:sp>
      <p:sp>
        <p:nvSpPr>
          <p:cNvPr id="16" name="icon-bg-LuLayoutDashboard"/>
          <p:cNvSpPr/>
          <p:nvPr/>
        </p:nvSpPr>
        <p:spPr>
          <a:xfrm>
            <a:off x="594360" y="3621024"/>
            <a:ext cx="502920" cy="502920"/>
          </a:xfrm>
          <a:prstGeom prst="ellipse">
            <a:avLst/>
          </a:prstGeom>
          <a:solidFill>
            <a:schemeClr val="accent1"/>
          </a:solidFill>
          <a:ln/>
        </p:spPr>
      </p:sp>
      <p:pic>
        <p:nvPicPr>
          <p:cNvPr id="17" name="icon-LuLayoutDashboard" descr="preencoded.png">    </p:cNvPr>
          <p:cNvPicPr>
            <a:picLocks noChangeAspect="1"/>
          </p:cNvPicPr>
          <p:nvPr/>
        </p:nvPicPr>
        <p:blipFill>
          <a:blip r:embed="rId3"/>
          <a:stretch>
            <a:fillRect/>
          </a:stretch>
        </p:blipFill>
        <p:spPr>
          <a:xfrm>
            <a:off x="715061" y="3741725"/>
            <a:ext cx="261518" cy="261518"/>
          </a:xfrm>
          <a:prstGeom prst="rect">
            <a:avLst/>
          </a:prstGeom>
        </p:spPr>
      </p:pic>
      <p:sp>
        <p:nvSpPr>
          <p:cNvPr id="18" name="Text 13"/>
          <p:cNvSpPr txBox="1"/>
          <p:nvPr/>
        </p:nvSpPr>
        <p:spPr>
          <a:xfrm>
            <a:off x="1234440" y="3602736"/>
            <a:ext cx="1371600" cy="292608"/>
          </a:xfrm>
          <a:prstGeom prst="rect">
            <a:avLst/>
          </a:prstGeom>
          <a:noFill/>
          <a:ln/>
        </p:spPr>
        <p:txBody>
          <a:bodyPr wrap="square" lIns="0" tIns="0" rIns="0" bIns="0" rtlCol="0" anchor="t"/>
          <a:lstStyle/>
          <a:p>
            <a:pPr indent="0" marL="0">
              <a:buNone/>
            </a:pPr>
            <a:r>
              <a:rPr lang="en-US" sz="1500" b="1" dirty="0">
                <a:solidFill>
                  <a:schemeClr val="tx1"/>
                </a:solidFill>
              </a:rPr>
              <a:t>Quản lý</a:t>
            </a:r>
            <a:endParaRPr lang="en-US" sz="1500" dirty="0"/>
          </a:p>
        </p:txBody>
      </p:sp>
      <p:sp>
        <p:nvSpPr>
          <p:cNvPr id="19" name="Text 14"/>
          <p:cNvSpPr txBox="1"/>
          <p:nvPr/>
        </p:nvSpPr>
        <p:spPr>
          <a:xfrm>
            <a:off x="1234440" y="3895344"/>
            <a:ext cx="1417320" cy="320040"/>
          </a:xfrm>
          <a:prstGeom prst="rect">
            <a:avLst/>
          </a:prstGeom>
          <a:noFill/>
          <a:ln/>
        </p:spPr>
        <p:txBody>
          <a:bodyPr wrap="square" lIns="0" tIns="0" rIns="0" bIns="0" rtlCol="0" anchor="t"/>
          <a:lstStyle/>
          <a:p>
            <a:pPr indent="0" marL="0">
              <a:buNone/>
            </a:pPr>
            <a:r>
              <a:rPr lang="en-US" sz="1100" dirty="0">
                <a:solidFill>
                  <a:schemeClr val="accent6"/>
                </a:solidFill>
              </a:rPr>
              <a:t>Trình duyệt</a:t>
            </a:r>
            <a:endParaRPr lang="en-US" sz="1100" dirty="0"/>
          </a:p>
        </p:txBody>
      </p:sp>
      <p:sp>
        <p:nvSpPr>
          <p:cNvPr id="20" name="arrow-client-2"/>
          <p:cNvSpPr/>
          <p:nvPr/>
        </p:nvSpPr>
        <p:spPr>
          <a:xfrm>
            <a:off x="2743200" y="3877056"/>
            <a:ext cx="411480" cy="0"/>
          </a:xfrm>
          <a:prstGeom prst="line">
            <a:avLst/>
          </a:prstGeom>
          <a:noFill/>
          <a:ln w="19050">
            <a:solidFill>
              <a:srgbClr val="68533F"/>
            </a:solidFill>
            <a:prstDash val="solid"/>
            <a:tailEnd type="triangle"/>
          </a:ln>
        </p:spPr>
      </p:sp>
      <p:sp>
        <p:nvSpPr>
          <p:cNvPr id="21" name="server"/>
          <p:cNvSpPr/>
          <p:nvPr/>
        </p:nvSpPr>
        <p:spPr>
          <a:xfrm>
            <a:off x="3200400" y="1097280"/>
            <a:ext cx="3246120" cy="3429000"/>
          </a:xfrm>
          <a:prstGeom prst="roundRect">
            <a:avLst>
              <a:gd name="adj" fmla="val 3380"/>
            </a:avLst>
          </a:prstGeom>
          <a:solidFill>
            <a:schemeClr val="tx1"/>
          </a:solidFill>
          <a:ln/>
        </p:spPr>
      </p:sp>
      <p:sp>
        <p:nvSpPr>
          <p:cNvPr id="22" name="Text 17"/>
          <p:cNvSpPr txBox="1"/>
          <p:nvPr/>
        </p:nvSpPr>
        <p:spPr>
          <a:xfrm>
            <a:off x="3383280" y="1207008"/>
            <a:ext cx="2926080" cy="320040"/>
          </a:xfrm>
          <a:prstGeom prst="rect">
            <a:avLst/>
          </a:prstGeom>
          <a:noFill/>
          <a:ln/>
        </p:spPr>
        <p:txBody>
          <a:bodyPr wrap="square" lIns="0" tIns="0" rIns="0" bIns="0" rtlCol="0" anchor="t"/>
          <a:lstStyle/>
          <a:p>
            <a:pPr indent="0" marL="0">
              <a:buNone/>
            </a:pPr>
            <a:r>
              <a:rPr lang="en-US" sz="1500" b="1" dirty="0">
                <a:solidFill>
                  <a:schemeClr val="bg1"/>
                </a:solidFill>
              </a:rPr>
              <a:t>Node.js 22 + Express 5</a:t>
            </a:r>
            <a:endParaRPr lang="en-US" sz="1500" dirty="0"/>
          </a:p>
        </p:txBody>
      </p:sp>
      <p:sp>
        <p:nvSpPr>
          <p:cNvPr id="23" name="layer-routes"/>
          <p:cNvSpPr/>
          <p:nvPr/>
        </p:nvSpPr>
        <p:spPr>
          <a:xfrm>
            <a:off x="3383280" y="1627632"/>
            <a:ext cx="2880360" cy="603504"/>
          </a:xfrm>
          <a:prstGeom prst="roundRect">
            <a:avLst>
              <a:gd name="adj" fmla="val 18182"/>
            </a:avLst>
          </a:prstGeom>
          <a:solidFill>
            <a:srgbClr val="33231A"/>
          </a:solidFill>
          <a:ln/>
        </p:spPr>
      </p:sp>
      <p:sp>
        <p:nvSpPr>
          <p:cNvPr id="24" name="Text 19"/>
          <p:cNvSpPr txBox="1"/>
          <p:nvPr/>
        </p:nvSpPr>
        <p:spPr>
          <a:xfrm>
            <a:off x="3520440" y="1700784"/>
            <a:ext cx="2651760" cy="228600"/>
          </a:xfrm>
          <a:prstGeom prst="rect">
            <a:avLst/>
          </a:prstGeom>
          <a:noFill/>
          <a:ln/>
        </p:spPr>
        <p:txBody>
          <a:bodyPr wrap="square" lIns="0" tIns="0" rIns="0" bIns="0" rtlCol="0" anchor="t"/>
          <a:lstStyle/>
          <a:p>
            <a:pPr indent="0" marL="0">
              <a:buNone/>
            </a:pPr>
            <a:r>
              <a:rPr lang="en-US" sz="1300" b="1" dirty="0">
                <a:solidFill>
                  <a:schemeClr val="accent1"/>
                </a:solidFill>
              </a:rPr>
              <a:t>routes</a:t>
            </a:r>
            <a:endParaRPr lang="en-US" sz="1300" dirty="0"/>
          </a:p>
        </p:txBody>
      </p:sp>
      <p:sp>
        <p:nvSpPr>
          <p:cNvPr id="25" name="Text 20"/>
          <p:cNvSpPr txBox="1"/>
          <p:nvPr/>
        </p:nvSpPr>
        <p:spPr>
          <a:xfrm>
            <a:off x="3520440" y="1938528"/>
            <a:ext cx="2651760" cy="256032"/>
          </a:xfrm>
          <a:prstGeom prst="rect">
            <a:avLst/>
          </a:prstGeom>
          <a:noFill/>
          <a:ln/>
        </p:spPr>
        <p:txBody>
          <a:bodyPr wrap="square" lIns="0" tIns="0" rIns="0" bIns="0" rtlCol="0" anchor="t"/>
          <a:lstStyle/>
          <a:p>
            <a:pPr indent="0" marL="0">
              <a:buNone/>
            </a:pPr>
            <a:r>
              <a:rPr lang="en-US" sz="1100" dirty="0">
                <a:solidFill>
                  <a:schemeClr val="bg2"/>
                </a:solidFill>
              </a:rPr>
              <a:t>nhận request · kiểm quyền · validate (zod)</a:t>
            </a:r>
            <a:endParaRPr lang="en-US" sz="1100" dirty="0"/>
          </a:p>
        </p:txBody>
      </p:sp>
      <p:sp>
        <p:nvSpPr>
          <p:cNvPr id="26" name="layer-services"/>
          <p:cNvSpPr/>
          <p:nvPr/>
        </p:nvSpPr>
        <p:spPr>
          <a:xfrm>
            <a:off x="3383280" y="2340864"/>
            <a:ext cx="2880360" cy="603504"/>
          </a:xfrm>
          <a:prstGeom prst="roundRect">
            <a:avLst>
              <a:gd name="adj" fmla="val 18182"/>
            </a:avLst>
          </a:prstGeom>
          <a:solidFill>
            <a:srgbClr val="33231A"/>
          </a:solidFill>
          <a:ln/>
        </p:spPr>
      </p:sp>
      <p:sp>
        <p:nvSpPr>
          <p:cNvPr id="27" name="Text 22"/>
          <p:cNvSpPr txBox="1"/>
          <p:nvPr/>
        </p:nvSpPr>
        <p:spPr>
          <a:xfrm>
            <a:off x="3520440" y="2414016"/>
            <a:ext cx="2651760" cy="228600"/>
          </a:xfrm>
          <a:prstGeom prst="rect">
            <a:avLst/>
          </a:prstGeom>
          <a:noFill/>
          <a:ln/>
        </p:spPr>
        <p:txBody>
          <a:bodyPr wrap="square" lIns="0" tIns="0" rIns="0" bIns="0" rtlCol="0" anchor="t"/>
          <a:lstStyle/>
          <a:p>
            <a:pPr indent="0" marL="0">
              <a:buNone/>
            </a:pPr>
            <a:r>
              <a:rPr lang="en-US" sz="1300" b="1" dirty="0">
                <a:solidFill>
                  <a:schemeClr val="accent1"/>
                </a:solidFill>
              </a:rPr>
              <a:t>services</a:t>
            </a:r>
            <a:endParaRPr lang="en-US" sz="1300" dirty="0"/>
          </a:p>
        </p:txBody>
      </p:sp>
      <p:sp>
        <p:nvSpPr>
          <p:cNvPr id="28" name="Text 23"/>
          <p:cNvSpPr txBox="1"/>
          <p:nvPr/>
        </p:nvSpPr>
        <p:spPr>
          <a:xfrm>
            <a:off x="3520440" y="2651760"/>
            <a:ext cx="2651760" cy="256032"/>
          </a:xfrm>
          <a:prstGeom prst="rect">
            <a:avLst/>
          </a:prstGeom>
          <a:noFill/>
          <a:ln/>
        </p:spPr>
        <p:txBody>
          <a:bodyPr wrap="square" lIns="0" tIns="0" rIns="0" bIns="0" rtlCol="0" anchor="t"/>
          <a:lstStyle/>
          <a:p>
            <a:pPr indent="0" marL="0">
              <a:buNone/>
            </a:pPr>
            <a:r>
              <a:rPr lang="en-US" sz="1100" dirty="0">
                <a:solidFill>
                  <a:schemeClr val="bg2"/>
                </a:solidFill>
              </a:rPr>
              <a:t>nghiệp vụ: đơn, thu tiền, kho, ca…</a:t>
            </a:r>
            <a:endParaRPr lang="en-US" sz="1100" dirty="0"/>
          </a:p>
        </p:txBody>
      </p:sp>
      <p:sp>
        <p:nvSpPr>
          <p:cNvPr id="29" name="layer-repositories"/>
          <p:cNvSpPr/>
          <p:nvPr/>
        </p:nvSpPr>
        <p:spPr>
          <a:xfrm>
            <a:off x="3383280" y="3054096"/>
            <a:ext cx="2880360" cy="603504"/>
          </a:xfrm>
          <a:prstGeom prst="roundRect">
            <a:avLst>
              <a:gd name="adj" fmla="val 18182"/>
            </a:avLst>
          </a:prstGeom>
          <a:solidFill>
            <a:srgbClr val="33231A"/>
          </a:solidFill>
          <a:ln/>
        </p:spPr>
      </p:sp>
      <p:sp>
        <p:nvSpPr>
          <p:cNvPr id="30" name="Text 25"/>
          <p:cNvSpPr txBox="1"/>
          <p:nvPr/>
        </p:nvSpPr>
        <p:spPr>
          <a:xfrm>
            <a:off x="3520440" y="3127248"/>
            <a:ext cx="2651760" cy="228600"/>
          </a:xfrm>
          <a:prstGeom prst="rect">
            <a:avLst/>
          </a:prstGeom>
          <a:noFill/>
          <a:ln/>
        </p:spPr>
        <p:txBody>
          <a:bodyPr wrap="square" lIns="0" tIns="0" rIns="0" bIns="0" rtlCol="0" anchor="t"/>
          <a:lstStyle/>
          <a:p>
            <a:pPr indent="0" marL="0">
              <a:buNone/>
            </a:pPr>
            <a:r>
              <a:rPr lang="en-US" sz="1300" b="1" dirty="0">
                <a:solidFill>
                  <a:schemeClr val="accent1"/>
                </a:solidFill>
              </a:rPr>
              <a:t>repositories</a:t>
            </a:r>
            <a:endParaRPr lang="en-US" sz="1300" dirty="0"/>
          </a:p>
        </p:txBody>
      </p:sp>
      <p:sp>
        <p:nvSpPr>
          <p:cNvPr id="31" name="Text 26"/>
          <p:cNvSpPr txBox="1"/>
          <p:nvPr/>
        </p:nvSpPr>
        <p:spPr>
          <a:xfrm>
            <a:off x="3520440" y="3364992"/>
            <a:ext cx="2651760" cy="256032"/>
          </a:xfrm>
          <a:prstGeom prst="rect">
            <a:avLst/>
          </a:prstGeom>
          <a:noFill/>
          <a:ln/>
        </p:spPr>
        <p:txBody>
          <a:bodyPr wrap="square" lIns="0" tIns="0" rIns="0" bIns="0" rtlCol="0" anchor="t"/>
          <a:lstStyle/>
          <a:p>
            <a:pPr indent="0" marL="0">
              <a:buNone/>
            </a:pPr>
            <a:r>
              <a:rPr lang="en-US" sz="1100" dirty="0">
                <a:solidFill>
                  <a:schemeClr val="bg2"/>
                </a:solidFill>
              </a:rPr>
              <a:t>truy vấn SQL · gọi thủ tục T-SQL</a:t>
            </a:r>
            <a:endParaRPr lang="en-US" sz="1100" dirty="0"/>
          </a:p>
        </p:txBody>
      </p:sp>
      <p:sp>
        <p:nvSpPr>
          <p:cNvPr id="32" name="Text 27"/>
          <p:cNvSpPr txBox="1"/>
          <p:nvPr/>
        </p:nvSpPr>
        <p:spPr>
          <a:xfrm>
            <a:off x="3383280" y="3822192"/>
            <a:ext cx="2880360" cy="640080"/>
          </a:xfrm>
          <a:prstGeom prst="rect">
            <a:avLst/>
          </a:prstGeom>
          <a:noFill/>
          <a:ln/>
        </p:spPr>
        <p:txBody>
          <a:bodyPr wrap="square" lIns="0" tIns="0" rIns="0" bIns="0" rtlCol="0" anchor="t"/>
          <a:lstStyle/>
          <a:p>
            <a:pPr indent="0" marL="0">
              <a:buNone/>
            </a:pPr>
            <a:r>
              <a:rPr lang="en-US" sz="1100" dirty="0">
                <a:solidFill>
                  <a:schemeClr val="bg2"/>
                </a:solidFill>
              </a:rPr>
              <a:t>Socket.io: đơn mới, trạng thái đơn tới quầy và điện thoại khách tức thì · 9 việc chạy nền (dự báo, cảnh báo…)</a:t>
            </a:r>
            <a:endParaRPr lang="en-US" sz="1100" dirty="0"/>
          </a:p>
        </p:txBody>
      </p:sp>
      <p:sp>
        <p:nvSpPr>
          <p:cNvPr id="33" name="arrow-db"/>
          <p:cNvSpPr/>
          <p:nvPr/>
        </p:nvSpPr>
        <p:spPr>
          <a:xfrm>
            <a:off x="6492240" y="2788920"/>
            <a:ext cx="411480" cy="0"/>
          </a:xfrm>
          <a:prstGeom prst="line">
            <a:avLst/>
          </a:prstGeom>
          <a:noFill/>
          <a:ln w="19050">
            <a:solidFill>
              <a:srgbClr val="68533F"/>
            </a:solidFill>
            <a:prstDash val="solid"/>
            <a:tailEnd type="triangle"/>
          </a:ln>
        </p:spPr>
      </p:sp>
      <p:sp>
        <p:nvSpPr>
          <p:cNvPr id="34" name="db"/>
          <p:cNvSpPr/>
          <p:nvPr/>
        </p:nvSpPr>
        <p:spPr>
          <a:xfrm>
            <a:off x="6949440" y="1691640"/>
            <a:ext cx="1737360" cy="2194560"/>
          </a:xfrm>
          <a:prstGeom prst="roundRect">
            <a:avLst>
              <a:gd name="adj" fmla="val 6316"/>
            </a:avLst>
          </a:prstGeom>
          <a:solidFill>
            <a:schemeClr val="bg2"/>
          </a:solidFill>
          <a:ln/>
        </p:spPr>
      </p:sp>
      <p:sp>
        <p:nvSpPr>
          <p:cNvPr id="35" name="icon-bg-LuDatabase"/>
          <p:cNvSpPr/>
          <p:nvPr/>
        </p:nvSpPr>
        <p:spPr>
          <a:xfrm>
            <a:off x="7562088" y="1828800"/>
            <a:ext cx="502920" cy="502920"/>
          </a:xfrm>
          <a:prstGeom prst="ellipse">
            <a:avLst/>
          </a:prstGeom>
          <a:solidFill>
            <a:schemeClr val="tx2"/>
          </a:solidFill>
          <a:ln/>
        </p:spPr>
      </p:sp>
      <p:pic>
        <p:nvPicPr>
          <p:cNvPr id="36" name="icon-LuDatabase" descr="preencoded.png">    </p:cNvPr>
          <p:cNvPicPr>
            <a:picLocks noChangeAspect="1"/>
          </p:cNvPicPr>
          <p:nvPr/>
        </p:nvPicPr>
        <p:blipFill>
          <a:blip r:embed="rId4"/>
          <a:stretch>
            <a:fillRect/>
          </a:stretch>
        </p:blipFill>
        <p:spPr>
          <a:xfrm>
            <a:off x="7682789" y="1949501"/>
            <a:ext cx="261518" cy="261518"/>
          </a:xfrm>
          <a:prstGeom prst="rect">
            <a:avLst/>
          </a:prstGeom>
        </p:spPr>
      </p:pic>
      <p:sp>
        <p:nvSpPr>
          <p:cNvPr id="37" name="Text 31"/>
          <p:cNvSpPr txBox="1"/>
          <p:nvPr/>
        </p:nvSpPr>
        <p:spPr>
          <a:xfrm>
            <a:off x="7040880" y="2423160"/>
            <a:ext cx="1554480" cy="292608"/>
          </a:xfrm>
          <a:prstGeom prst="rect">
            <a:avLst/>
          </a:prstGeom>
          <a:noFill/>
          <a:ln/>
        </p:spPr>
        <p:txBody>
          <a:bodyPr wrap="square" lIns="0" tIns="0" rIns="0" bIns="0" rtlCol="0" anchor="t"/>
          <a:lstStyle/>
          <a:p>
            <a:pPr algn="ctr" indent="0" marL="0">
              <a:buNone/>
            </a:pPr>
            <a:r>
              <a:rPr lang="en-US" sz="1400" b="1" dirty="0">
                <a:solidFill>
                  <a:schemeClr val="tx1"/>
                </a:solidFill>
              </a:rPr>
              <a:t>SQL Server 2019</a:t>
            </a:r>
            <a:endParaRPr lang="en-US" sz="1400" dirty="0"/>
          </a:p>
        </p:txBody>
      </p:sp>
      <p:sp>
        <p:nvSpPr>
          <p:cNvPr id="38" name="Text 32"/>
          <p:cNvSpPr txBox="1"/>
          <p:nvPr/>
        </p:nvSpPr>
        <p:spPr>
          <a:xfrm>
            <a:off x="7040880" y="2743200"/>
            <a:ext cx="1554480" cy="914400"/>
          </a:xfrm>
          <a:prstGeom prst="rect">
            <a:avLst/>
          </a:prstGeom>
          <a:noFill/>
          <a:ln/>
        </p:spPr>
        <p:txBody>
          <a:bodyPr wrap="square" lIns="0" tIns="0" rIns="0" bIns="0" rtlCol="0" anchor="t"/>
          <a:lstStyle/>
          <a:p>
            <a:pPr algn="ctr" indent="0" marL="0">
              <a:buNone/>
            </a:pPr>
            <a:r>
              <a:rPr lang="en-US" sz="1200" dirty="0">
                <a:solidFill>
                  <a:schemeClr val="accent6"/>
                </a:solidFill>
              </a:rPr>
              <a:t>73 bảng</a:t>
            </a:r>
            <a:endParaRPr lang="en-US" sz="1200" dirty="0"/>
          </a:p>
          <a:p>
            <a:pPr algn="ctr" indent="0" marL="0">
              <a:buNone/>
            </a:pPr>
            <a:r>
              <a:rPr lang="en-US" sz="1200" dirty="0">
                <a:solidFill>
                  <a:schemeClr val="accent6"/>
                </a:solidFill>
              </a:rPr>
              <a:t>32 thủ tục T-SQL</a:t>
            </a:r>
            <a:endParaRPr lang="en-US" sz="1200" dirty="0"/>
          </a:p>
          <a:p>
            <a:pPr algn="ctr" indent="0" marL="0">
              <a:buNone/>
            </a:pPr>
            <a:r>
              <a:rPr lang="en-US" sz="1200" dirty="0">
                <a:solidFill>
                  <a:schemeClr val="accent6"/>
                </a:solidFill>
              </a:rPr>
              <a:t>38 migration</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Cơ sở dữ liệu</a:t>
            </a:r>
            <a:endParaRPr lang="en-US" sz="3000" dirty="0"/>
          </a:p>
        </p:txBody>
      </p:sp>
      <p:sp>
        <p:nvSpPr>
          <p:cNvPr id="3" name="ent-Categories"/>
          <p:cNvSpPr/>
          <p:nvPr/>
        </p:nvSpPr>
        <p:spPr>
          <a:xfrm>
            <a:off x="457200" y="1280160"/>
            <a:ext cx="1051560" cy="566928"/>
          </a:xfrm>
          <a:prstGeom prst="roundRect">
            <a:avLst>
              <a:gd name="adj" fmla="val 19355"/>
            </a:avLst>
          </a:prstGeom>
          <a:solidFill>
            <a:schemeClr val="tx2"/>
          </a:solidFill>
          <a:ln/>
        </p:spPr>
      </p:sp>
      <p:sp>
        <p:nvSpPr>
          <p:cNvPr id="4" name="Text 2"/>
          <p:cNvSpPr txBox="1"/>
          <p:nvPr/>
        </p:nvSpPr>
        <p:spPr>
          <a:xfrm>
            <a:off x="457200" y="1435608"/>
            <a:ext cx="1051560" cy="274320"/>
          </a:xfrm>
          <a:prstGeom prst="rect">
            <a:avLst/>
          </a:prstGeom>
          <a:noFill/>
          <a:ln/>
        </p:spPr>
        <p:txBody>
          <a:bodyPr wrap="square" lIns="0" tIns="0" rIns="0" bIns="0" rtlCol="0" anchor="t"/>
          <a:lstStyle/>
          <a:p>
            <a:pPr algn="ctr" indent="0" marL="0">
              <a:buNone/>
            </a:pPr>
            <a:r>
              <a:rPr lang="en-US" sz="1200" b="1" dirty="0">
                <a:solidFill>
                  <a:schemeClr val="bg1"/>
                </a:solidFill>
              </a:rPr>
              <a:t>Categories</a:t>
            </a:r>
            <a:endParaRPr lang="en-US" sz="1200" dirty="0"/>
          </a:p>
        </p:txBody>
      </p:sp>
      <p:sp>
        <p:nvSpPr>
          <p:cNvPr id="5" name="rel-0-1.71"/>
          <p:cNvSpPr/>
          <p:nvPr/>
        </p:nvSpPr>
        <p:spPr>
          <a:xfrm>
            <a:off x="1545336" y="1563624"/>
            <a:ext cx="338328" cy="0"/>
          </a:xfrm>
          <a:prstGeom prst="line">
            <a:avLst/>
          </a:prstGeom>
          <a:noFill/>
          <a:ln w="19050">
            <a:solidFill>
              <a:srgbClr val="68533F"/>
            </a:solidFill>
            <a:prstDash val="solid"/>
            <a:tailEnd type="triangle"/>
          </a:ln>
        </p:spPr>
      </p:sp>
      <p:sp>
        <p:nvSpPr>
          <p:cNvPr id="6" name="Text 4"/>
          <p:cNvSpPr txBox="1"/>
          <p:nvPr/>
        </p:nvSpPr>
        <p:spPr>
          <a:xfrm>
            <a:off x="1545336" y="1316736"/>
            <a:ext cx="338328" cy="201168"/>
          </a:xfrm>
          <a:prstGeom prst="rect">
            <a:avLst/>
          </a:prstGeom>
          <a:noFill/>
          <a:ln/>
        </p:spPr>
        <p:txBody>
          <a:bodyPr wrap="square" lIns="0" tIns="0" rIns="0" bIns="0" rtlCol="0" anchor="t"/>
          <a:lstStyle/>
          <a:p>
            <a:pPr algn="ctr" indent="0" marL="0">
              <a:buNone/>
            </a:pPr>
            <a:r>
              <a:rPr lang="en-US" sz="1000" dirty="0">
                <a:solidFill>
                  <a:schemeClr val="accent6"/>
                </a:solidFill>
              </a:rPr>
              <a:t>1 – n</a:t>
            </a:r>
            <a:endParaRPr lang="en-US" sz="1000" dirty="0"/>
          </a:p>
        </p:txBody>
      </p:sp>
      <p:sp>
        <p:nvSpPr>
          <p:cNvPr id="7" name="ent-MenuItems"/>
          <p:cNvSpPr/>
          <p:nvPr/>
        </p:nvSpPr>
        <p:spPr>
          <a:xfrm>
            <a:off x="1920240" y="1280160"/>
            <a:ext cx="1051560" cy="566928"/>
          </a:xfrm>
          <a:prstGeom prst="roundRect">
            <a:avLst>
              <a:gd name="adj" fmla="val 19355"/>
            </a:avLst>
          </a:prstGeom>
          <a:solidFill>
            <a:schemeClr val="tx2"/>
          </a:solidFill>
          <a:ln/>
        </p:spPr>
      </p:sp>
      <p:sp>
        <p:nvSpPr>
          <p:cNvPr id="8" name="Text 6"/>
          <p:cNvSpPr txBox="1"/>
          <p:nvPr/>
        </p:nvSpPr>
        <p:spPr>
          <a:xfrm>
            <a:off x="1920240" y="1435608"/>
            <a:ext cx="1051560" cy="274320"/>
          </a:xfrm>
          <a:prstGeom prst="rect">
            <a:avLst/>
          </a:prstGeom>
          <a:noFill/>
          <a:ln/>
        </p:spPr>
        <p:txBody>
          <a:bodyPr wrap="square" lIns="0" tIns="0" rIns="0" bIns="0" rtlCol="0" anchor="t"/>
          <a:lstStyle/>
          <a:p>
            <a:pPr algn="ctr" indent="0" marL="0">
              <a:buNone/>
            </a:pPr>
            <a:r>
              <a:rPr lang="en-US" sz="1200" b="1" dirty="0">
                <a:solidFill>
                  <a:schemeClr val="bg1"/>
                </a:solidFill>
              </a:rPr>
              <a:t>MenuItems</a:t>
            </a:r>
            <a:endParaRPr lang="en-US" sz="1200" dirty="0"/>
          </a:p>
        </p:txBody>
      </p:sp>
      <p:sp>
        <p:nvSpPr>
          <p:cNvPr id="9" name="rel-1-1.71"/>
          <p:cNvSpPr/>
          <p:nvPr/>
        </p:nvSpPr>
        <p:spPr>
          <a:xfrm>
            <a:off x="3008376" y="1563624"/>
            <a:ext cx="338328" cy="0"/>
          </a:xfrm>
          <a:prstGeom prst="line">
            <a:avLst/>
          </a:prstGeom>
          <a:noFill/>
          <a:ln w="19050">
            <a:solidFill>
              <a:srgbClr val="68533F"/>
            </a:solidFill>
            <a:prstDash val="solid"/>
            <a:tailEnd type="triangle"/>
          </a:ln>
        </p:spPr>
      </p:sp>
      <p:sp>
        <p:nvSpPr>
          <p:cNvPr id="10" name="Text 8"/>
          <p:cNvSpPr txBox="1"/>
          <p:nvPr/>
        </p:nvSpPr>
        <p:spPr>
          <a:xfrm>
            <a:off x="3008376" y="1316736"/>
            <a:ext cx="338328" cy="201168"/>
          </a:xfrm>
          <a:prstGeom prst="rect">
            <a:avLst/>
          </a:prstGeom>
          <a:noFill/>
          <a:ln/>
        </p:spPr>
        <p:txBody>
          <a:bodyPr wrap="square" lIns="0" tIns="0" rIns="0" bIns="0" rtlCol="0" anchor="t"/>
          <a:lstStyle/>
          <a:p>
            <a:pPr algn="ctr" indent="0" marL="0">
              <a:buNone/>
            </a:pPr>
            <a:r>
              <a:rPr lang="en-US" sz="1000" dirty="0">
                <a:solidFill>
                  <a:schemeClr val="accent6"/>
                </a:solidFill>
              </a:rPr>
              <a:t>n – n</a:t>
            </a:r>
            <a:endParaRPr lang="en-US" sz="1000" dirty="0"/>
          </a:p>
        </p:txBody>
      </p:sp>
      <p:sp>
        <p:nvSpPr>
          <p:cNvPr id="11" name="ent-BomItems"/>
          <p:cNvSpPr/>
          <p:nvPr/>
        </p:nvSpPr>
        <p:spPr>
          <a:xfrm>
            <a:off x="3383280" y="1280160"/>
            <a:ext cx="1051560" cy="566928"/>
          </a:xfrm>
          <a:prstGeom prst="roundRect">
            <a:avLst>
              <a:gd name="adj" fmla="val 19355"/>
            </a:avLst>
          </a:prstGeom>
          <a:solidFill>
            <a:schemeClr val="bg2"/>
          </a:solidFill>
          <a:ln/>
        </p:spPr>
      </p:sp>
      <p:sp>
        <p:nvSpPr>
          <p:cNvPr id="12" name="Text 10"/>
          <p:cNvSpPr txBox="1"/>
          <p:nvPr/>
        </p:nvSpPr>
        <p:spPr>
          <a:xfrm>
            <a:off x="3383280" y="1435608"/>
            <a:ext cx="1051560" cy="274320"/>
          </a:xfrm>
          <a:prstGeom prst="rect">
            <a:avLst/>
          </a:prstGeom>
          <a:noFill/>
          <a:ln/>
        </p:spPr>
        <p:txBody>
          <a:bodyPr wrap="square" lIns="0" tIns="0" rIns="0" bIns="0" rtlCol="0" anchor="t"/>
          <a:lstStyle/>
          <a:p>
            <a:pPr algn="ctr" indent="0" marL="0">
              <a:buNone/>
            </a:pPr>
            <a:r>
              <a:rPr lang="en-US" sz="1200" b="1" dirty="0">
                <a:solidFill>
                  <a:schemeClr val="tx1"/>
                </a:solidFill>
              </a:rPr>
              <a:t>BomItems</a:t>
            </a:r>
            <a:endParaRPr lang="en-US" sz="1200" dirty="0"/>
          </a:p>
        </p:txBody>
      </p:sp>
      <p:sp>
        <p:nvSpPr>
          <p:cNvPr id="13" name="rel-2-1.71"/>
          <p:cNvSpPr/>
          <p:nvPr/>
        </p:nvSpPr>
        <p:spPr>
          <a:xfrm>
            <a:off x="4471416" y="1563624"/>
            <a:ext cx="338328" cy="0"/>
          </a:xfrm>
          <a:prstGeom prst="line">
            <a:avLst/>
          </a:prstGeom>
          <a:noFill/>
          <a:ln w="19050">
            <a:solidFill>
              <a:srgbClr val="68533F"/>
            </a:solidFill>
            <a:prstDash val="solid"/>
            <a:tailEnd type="triangle"/>
          </a:ln>
        </p:spPr>
      </p:sp>
      <p:sp>
        <p:nvSpPr>
          <p:cNvPr id="14" name="ent-Ingredients"/>
          <p:cNvSpPr/>
          <p:nvPr/>
        </p:nvSpPr>
        <p:spPr>
          <a:xfrm>
            <a:off x="4846320" y="1280160"/>
            <a:ext cx="1051560" cy="566928"/>
          </a:xfrm>
          <a:prstGeom prst="roundRect">
            <a:avLst>
              <a:gd name="adj" fmla="val 19355"/>
            </a:avLst>
          </a:prstGeom>
          <a:solidFill>
            <a:schemeClr val="tx2"/>
          </a:solidFill>
          <a:ln/>
        </p:spPr>
      </p:sp>
      <p:sp>
        <p:nvSpPr>
          <p:cNvPr id="15" name="Text 13"/>
          <p:cNvSpPr txBox="1"/>
          <p:nvPr/>
        </p:nvSpPr>
        <p:spPr>
          <a:xfrm>
            <a:off x="4846320" y="1435608"/>
            <a:ext cx="1051560" cy="274320"/>
          </a:xfrm>
          <a:prstGeom prst="rect">
            <a:avLst/>
          </a:prstGeom>
          <a:noFill/>
          <a:ln/>
        </p:spPr>
        <p:txBody>
          <a:bodyPr wrap="square" lIns="0" tIns="0" rIns="0" bIns="0" rtlCol="0" anchor="t"/>
          <a:lstStyle/>
          <a:p>
            <a:pPr algn="ctr" indent="0" marL="0">
              <a:buNone/>
            </a:pPr>
            <a:r>
              <a:rPr lang="en-US" sz="1200" b="1" dirty="0">
                <a:solidFill>
                  <a:schemeClr val="bg1"/>
                </a:solidFill>
              </a:rPr>
              <a:t>Ingredients</a:t>
            </a:r>
            <a:endParaRPr lang="en-US" sz="1200" dirty="0"/>
          </a:p>
        </p:txBody>
      </p:sp>
      <p:sp>
        <p:nvSpPr>
          <p:cNvPr id="16" name="ent-Tables"/>
          <p:cNvSpPr/>
          <p:nvPr/>
        </p:nvSpPr>
        <p:spPr>
          <a:xfrm>
            <a:off x="457200" y="2423160"/>
            <a:ext cx="1051560" cy="566928"/>
          </a:xfrm>
          <a:prstGeom prst="roundRect">
            <a:avLst>
              <a:gd name="adj" fmla="val 19355"/>
            </a:avLst>
          </a:prstGeom>
          <a:solidFill>
            <a:schemeClr val="tx2"/>
          </a:solidFill>
          <a:ln/>
        </p:spPr>
      </p:sp>
      <p:sp>
        <p:nvSpPr>
          <p:cNvPr id="17" name="Text 15"/>
          <p:cNvSpPr txBox="1"/>
          <p:nvPr/>
        </p:nvSpPr>
        <p:spPr>
          <a:xfrm>
            <a:off x="457200" y="2578608"/>
            <a:ext cx="1051560" cy="274320"/>
          </a:xfrm>
          <a:prstGeom prst="rect">
            <a:avLst/>
          </a:prstGeom>
          <a:noFill/>
          <a:ln/>
        </p:spPr>
        <p:txBody>
          <a:bodyPr wrap="square" lIns="0" tIns="0" rIns="0" bIns="0" rtlCol="0" anchor="t"/>
          <a:lstStyle/>
          <a:p>
            <a:pPr algn="ctr" indent="0" marL="0">
              <a:buNone/>
            </a:pPr>
            <a:r>
              <a:rPr lang="en-US" sz="1200" b="1" dirty="0">
                <a:solidFill>
                  <a:schemeClr val="bg1"/>
                </a:solidFill>
              </a:rPr>
              <a:t>Tables</a:t>
            </a:r>
            <a:endParaRPr lang="en-US" sz="1200" dirty="0"/>
          </a:p>
        </p:txBody>
      </p:sp>
      <p:sp>
        <p:nvSpPr>
          <p:cNvPr id="18" name="rel-0-2.96"/>
          <p:cNvSpPr/>
          <p:nvPr/>
        </p:nvSpPr>
        <p:spPr>
          <a:xfrm>
            <a:off x="1545336" y="2706624"/>
            <a:ext cx="338328" cy="0"/>
          </a:xfrm>
          <a:prstGeom prst="line">
            <a:avLst/>
          </a:prstGeom>
          <a:noFill/>
          <a:ln w="19050">
            <a:solidFill>
              <a:srgbClr val="68533F"/>
            </a:solidFill>
            <a:prstDash val="solid"/>
            <a:tailEnd type="triangle"/>
          </a:ln>
        </p:spPr>
      </p:sp>
      <p:sp>
        <p:nvSpPr>
          <p:cNvPr id="19" name="Text 17"/>
          <p:cNvSpPr txBox="1"/>
          <p:nvPr/>
        </p:nvSpPr>
        <p:spPr>
          <a:xfrm>
            <a:off x="1545336" y="2459736"/>
            <a:ext cx="338328" cy="201168"/>
          </a:xfrm>
          <a:prstGeom prst="rect">
            <a:avLst/>
          </a:prstGeom>
          <a:noFill/>
          <a:ln/>
        </p:spPr>
        <p:txBody>
          <a:bodyPr wrap="square" lIns="0" tIns="0" rIns="0" bIns="0" rtlCol="0" anchor="t"/>
          <a:lstStyle/>
          <a:p>
            <a:pPr algn="ctr" indent="0" marL="0">
              <a:buNone/>
            </a:pPr>
            <a:r>
              <a:rPr lang="en-US" sz="1000" dirty="0">
                <a:solidFill>
                  <a:schemeClr val="accent6"/>
                </a:solidFill>
              </a:rPr>
              <a:t>1 – n</a:t>
            </a:r>
            <a:endParaRPr lang="en-US" sz="1000" dirty="0"/>
          </a:p>
        </p:txBody>
      </p:sp>
      <p:sp>
        <p:nvSpPr>
          <p:cNvPr id="20" name="ent-Sessions"/>
          <p:cNvSpPr/>
          <p:nvPr/>
        </p:nvSpPr>
        <p:spPr>
          <a:xfrm>
            <a:off x="1920240" y="2423160"/>
            <a:ext cx="1051560" cy="566928"/>
          </a:xfrm>
          <a:prstGeom prst="roundRect">
            <a:avLst>
              <a:gd name="adj" fmla="val 19355"/>
            </a:avLst>
          </a:prstGeom>
          <a:solidFill>
            <a:schemeClr val="tx2"/>
          </a:solidFill>
          <a:ln/>
        </p:spPr>
      </p:sp>
      <p:sp>
        <p:nvSpPr>
          <p:cNvPr id="21" name="Text 19"/>
          <p:cNvSpPr txBox="1"/>
          <p:nvPr/>
        </p:nvSpPr>
        <p:spPr>
          <a:xfrm>
            <a:off x="1920240" y="2578608"/>
            <a:ext cx="1051560" cy="274320"/>
          </a:xfrm>
          <a:prstGeom prst="rect">
            <a:avLst/>
          </a:prstGeom>
          <a:noFill/>
          <a:ln/>
        </p:spPr>
        <p:txBody>
          <a:bodyPr wrap="square" lIns="0" tIns="0" rIns="0" bIns="0" rtlCol="0" anchor="t"/>
          <a:lstStyle/>
          <a:p>
            <a:pPr algn="ctr" indent="0" marL="0">
              <a:buNone/>
            </a:pPr>
            <a:r>
              <a:rPr lang="en-US" sz="1200" b="1" dirty="0">
                <a:solidFill>
                  <a:schemeClr val="bg1"/>
                </a:solidFill>
              </a:rPr>
              <a:t>Sessions</a:t>
            </a:r>
            <a:endParaRPr lang="en-US" sz="1200" dirty="0"/>
          </a:p>
        </p:txBody>
      </p:sp>
      <p:sp>
        <p:nvSpPr>
          <p:cNvPr id="22" name="rel-1-2.96"/>
          <p:cNvSpPr/>
          <p:nvPr/>
        </p:nvSpPr>
        <p:spPr>
          <a:xfrm>
            <a:off x="3008376" y="2706624"/>
            <a:ext cx="338328" cy="0"/>
          </a:xfrm>
          <a:prstGeom prst="line">
            <a:avLst/>
          </a:prstGeom>
          <a:noFill/>
          <a:ln w="19050">
            <a:solidFill>
              <a:srgbClr val="68533F"/>
            </a:solidFill>
            <a:prstDash val="solid"/>
            <a:tailEnd type="triangle"/>
          </a:ln>
        </p:spPr>
      </p:sp>
      <p:sp>
        <p:nvSpPr>
          <p:cNvPr id="23" name="Text 21"/>
          <p:cNvSpPr txBox="1"/>
          <p:nvPr/>
        </p:nvSpPr>
        <p:spPr>
          <a:xfrm>
            <a:off x="3008376" y="2459736"/>
            <a:ext cx="338328" cy="201168"/>
          </a:xfrm>
          <a:prstGeom prst="rect">
            <a:avLst/>
          </a:prstGeom>
          <a:noFill/>
          <a:ln/>
        </p:spPr>
        <p:txBody>
          <a:bodyPr wrap="square" lIns="0" tIns="0" rIns="0" bIns="0" rtlCol="0" anchor="t"/>
          <a:lstStyle/>
          <a:p>
            <a:pPr algn="ctr" indent="0" marL="0">
              <a:buNone/>
            </a:pPr>
            <a:r>
              <a:rPr lang="en-US" sz="1000" dirty="0">
                <a:solidFill>
                  <a:schemeClr val="accent6"/>
                </a:solidFill>
              </a:rPr>
              <a:t>1 – n</a:t>
            </a:r>
            <a:endParaRPr lang="en-US" sz="1000" dirty="0"/>
          </a:p>
        </p:txBody>
      </p:sp>
      <p:sp>
        <p:nvSpPr>
          <p:cNvPr id="24" name="ent-Orders"/>
          <p:cNvSpPr/>
          <p:nvPr/>
        </p:nvSpPr>
        <p:spPr>
          <a:xfrm>
            <a:off x="3383280" y="2423160"/>
            <a:ext cx="1051560" cy="566928"/>
          </a:xfrm>
          <a:prstGeom prst="roundRect">
            <a:avLst>
              <a:gd name="adj" fmla="val 19355"/>
            </a:avLst>
          </a:prstGeom>
          <a:solidFill>
            <a:schemeClr val="tx2"/>
          </a:solidFill>
          <a:ln/>
        </p:spPr>
      </p:sp>
      <p:sp>
        <p:nvSpPr>
          <p:cNvPr id="25" name="Text 23"/>
          <p:cNvSpPr txBox="1"/>
          <p:nvPr/>
        </p:nvSpPr>
        <p:spPr>
          <a:xfrm>
            <a:off x="3383280" y="2578608"/>
            <a:ext cx="1051560" cy="274320"/>
          </a:xfrm>
          <a:prstGeom prst="rect">
            <a:avLst/>
          </a:prstGeom>
          <a:noFill/>
          <a:ln/>
        </p:spPr>
        <p:txBody>
          <a:bodyPr wrap="square" lIns="0" tIns="0" rIns="0" bIns="0" rtlCol="0" anchor="t"/>
          <a:lstStyle/>
          <a:p>
            <a:pPr algn="ctr" indent="0" marL="0">
              <a:buNone/>
            </a:pPr>
            <a:r>
              <a:rPr lang="en-US" sz="1200" b="1" dirty="0">
                <a:solidFill>
                  <a:schemeClr val="bg1"/>
                </a:solidFill>
              </a:rPr>
              <a:t>Orders</a:t>
            </a:r>
            <a:endParaRPr lang="en-US" sz="1200" dirty="0"/>
          </a:p>
        </p:txBody>
      </p:sp>
      <p:sp>
        <p:nvSpPr>
          <p:cNvPr id="26" name="rel-2-2.96"/>
          <p:cNvSpPr/>
          <p:nvPr/>
        </p:nvSpPr>
        <p:spPr>
          <a:xfrm>
            <a:off x="4471416" y="2706624"/>
            <a:ext cx="338328" cy="0"/>
          </a:xfrm>
          <a:prstGeom prst="line">
            <a:avLst/>
          </a:prstGeom>
          <a:noFill/>
          <a:ln w="19050">
            <a:solidFill>
              <a:srgbClr val="68533F"/>
            </a:solidFill>
            <a:prstDash val="solid"/>
            <a:tailEnd type="triangle"/>
          </a:ln>
        </p:spPr>
      </p:sp>
      <p:sp>
        <p:nvSpPr>
          <p:cNvPr id="27" name="Text 25"/>
          <p:cNvSpPr txBox="1"/>
          <p:nvPr/>
        </p:nvSpPr>
        <p:spPr>
          <a:xfrm>
            <a:off x="4471416" y="2459736"/>
            <a:ext cx="338328" cy="201168"/>
          </a:xfrm>
          <a:prstGeom prst="rect">
            <a:avLst/>
          </a:prstGeom>
          <a:noFill/>
          <a:ln/>
        </p:spPr>
        <p:txBody>
          <a:bodyPr wrap="square" lIns="0" tIns="0" rIns="0" bIns="0" rtlCol="0" anchor="t"/>
          <a:lstStyle/>
          <a:p>
            <a:pPr algn="ctr" indent="0" marL="0">
              <a:buNone/>
            </a:pPr>
            <a:r>
              <a:rPr lang="en-US" sz="1000" dirty="0">
                <a:solidFill>
                  <a:schemeClr val="accent6"/>
                </a:solidFill>
              </a:rPr>
              <a:t>1 – n</a:t>
            </a:r>
            <a:endParaRPr lang="en-US" sz="1000" dirty="0"/>
          </a:p>
        </p:txBody>
      </p:sp>
      <p:sp>
        <p:nvSpPr>
          <p:cNvPr id="28" name="ent-OrderItems"/>
          <p:cNvSpPr/>
          <p:nvPr/>
        </p:nvSpPr>
        <p:spPr>
          <a:xfrm>
            <a:off x="4846320" y="2423160"/>
            <a:ext cx="1051560" cy="566928"/>
          </a:xfrm>
          <a:prstGeom prst="roundRect">
            <a:avLst>
              <a:gd name="adj" fmla="val 19355"/>
            </a:avLst>
          </a:prstGeom>
          <a:solidFill>
            <a:schemeClr val="tx2"/>
          </a:solidFill>
          <a:ln/>
        </p:spPr>
      </p:sp>
      <p:sp>
        <p:nvSpPr>
          <p:cNvPr id="29" name="Text 27"/>
          <p:cNvSpPr txBox="1"/>
          <p:nvPr/>
        </p:nvSpPr>
        <p:spPr>
          <a:xfrm>
            <a:off x="4846320" y="2578608"/>
            <a:ext cx="1051560" cy="274320"/>
          </a:xfrm>
          <a:prstGeom prst="rect">
            <a:avLst/>
          </a:prstGeom>
          <a:noFill/>
          <a:ln/>
        </p:spPr>
        <p:txBody>
          <a:bodyPr wrap="square" lIns="0" tIns="0" rIns="0" bIns="0" rtlCol="0" anchor="t"/>
          <a:lstStyle/>
          <a:p>
            <a:pPr algn="ctr" indent="0" marL="0">
              <a:buNone/>
            </a:pPr>
            <a:r>
              <a:rPr lang="en-US" sz="1200" b="1" dirty="0">
                <a:solidFill>
                  <a:schemeClr val="bg1"/>
                </a:solidFill>
              </a:rPr>
              <a:t>OrderItems</a:t>
            </a:r>
            <a:endParaRPr lang="en-US" sz="1200" dirty="0"/>
          </a:p>
        </p:txBody>
      </p:sp>
      <p:sp>
        <p:nvSpPr>
          <p:cNvPr id="30" name="rel-pay"/>
          <p:cNvSpPr/>
          <p:nvPr/>
        </p:nvSpPr>
        <p:spPr>
          <a:xfrm>
            <a:off x="3909060" y="3026664"/>
            <a:ext cx="0" cy="411480"/>
          </a:xfrm>
          <a:prstGeom prst="line">
            <a:avLst/>
          </a:prstGeom>
          <a:noFill/>
          <a:ln w="19050">
            <a:solidFill>
              <a:srgbClr val="68533F"/>
            </a:solidFill>
            <a:prstDash val="solid"/>
            <a:tailEnd type="triangle"/>
          </a:ln>
        </p:spPr>
      </p:sp>
      <p:sp>
        <p:nvSpPr>
          <p:cNvPr id="31" name="Text 29"/>
          <p:cNvSpPr txBox="1"/>
          <p:nvPr/>
        </p:nvSpPr>
        <p:spPr>
          <a:xfrm>
            <a:off x="3982212" y="3127248"/>
            <a:ext cx="548640" cy="201168"/>
          </a:xfrm>
          <a:prstGeom prst="rect">
            <a:avLst/>
          </a:prstGeom>
          <a:noFill/>
          <a:ln/>
        </p:spPr>
        <p:txBody>
          <a:bodyPr wrap="square" lIns="0" tIns="0" rIns="0" bIns="0" rtlCol="0" anchor="t"/>
          <a:lstStyle/>
          <a:p>
            <a:pPr indent="0" marL="0">
              <a:buNone/>
            </a:pPr>
            <a:r>
              <a:rPr lang="en-US" sz="1000" dirty="0">
                <a:solidFill>
                  <a:schemeClr val="accent6"/>
                </a:solidFill>
              </a:rPr>
              <a:t>1 – n</a:t>
            </a:r>
            <a:endParaRPr lang="en-US" sz="1000" dirty="0"/>
          </a:p>
        </p:txBody>
      </p:sp>
      <p:sp>
        <p:nvSpPr>
          <p:cNvPr id="32" name="ent-Payments"/>
          <p:cNvSpPr/>
          <p:nvPr/>
        </p:nvSpPr>
        <p:spPr>
          <a:xfrm>
            <a:off x="3383280" y="3474720"/>
            <a:ext cx="1051560" cy="566928"/>
          </a:xfrm>
          <a:prstGeom prst="roundRect">
            <a:avLst>
              <a:gd name="adj" fmla="val 19355"/>
            </a:avLst>
          </a:prstGeom>
          <a:solidFill>
            <a:schemeClr val="tx2"/>
          </a:solidFill>
          <a:ln/>
        </p:spPr>
      </p:sp>
      <p:sp>
        <p:nvSpPr>
          <p:cNvPr id="33" name="Text 31"/>
          <p:cNvSpPr txBox="1"/>
          <p:nvPr/>
        </p:nvSpPr>
        <p:spPr>
          <a:xfrm>
            <a:off x="3383280" y="3630168"/>
            <a:ext cx="1051560" cy="274320"/>
          </a:xfrm>
          <a:prstGeom prst="rect">
            <a:avLst/>
          </a:prstGeom>
          <a:noFill/>
          <a:ln/>
        </p:spPr>
        <p:txBody>
          <a:bodyPr wrap="square" lIns="0" tIns="0" rIns="0" bIns="0" rtlCol="0" anchor="t"/>
          <a:lstStyle/>
          <a:p>
            <a:pPr algn="ctr" indent="0" marL="0">
              <a:buNone/>
            </a:pPr>
            <a:r>
              <a:rPr lang="en-US" sz="1200" b="1" dirty="0">
                <a:solidFill>
                  <a:schemeClr val="bg1"/>
                </a:solidFill>
              </a:rPr>
              <a:t>Payments</a:t>
            </a:r>
            <a:endParaRPr lang="en-US" sz="1200" dirty="0"/>
          </a:p>
        </p:txBody>
      </p:sp>
      <p:sp>
        <p:nvSpPr>
          <p:cNvPr id="34" name="Text 32"/>
          <p:cNvSpPr txBox="1"/>
          <p:nvPr/>
        </p:nvSpPr>
        <p:spPr>
          <a:xfrm>
            <a:off x="457200" y="4206240"/>
            <a:ext cx="5394960" cy="457200"/>
          </a:xfrm>
          <a:prstGeom prst="rect">
            <a:avLst/>
          </a:prstGeom>
          <a:noFill/>
          <a:ln/>
        </p:spPr>
        <p:txBody>
          <a:bodyPr wrap="square" lIns="0" tIns="0" rIns="0" bIns="0" rtlCol="0" anchor="t"/>
          <a:lstStyle/>
          <a:p>
            <a:pPr indent="0" marL="0">
              <a:buNone/>
            </a:pPr>
            <a:r>
              <a:rPr lang="en-US" sz="1100" dirty="0">
                <a:solidFill>
                  <a:schemeClr val="accent6"/>
                </a:solidFill>
              </a:rPr>
              <a:t>Món nào cần nguyên liệu gì nằm ở BomItems (bảng nối n – n). Giữ kho lúc gửi đơn ghi vào OrderIngredients.</a:t>
            </a:r>
            <a:endParaRPr lang="en-US" sz="1100" dirty="0"/>
          </a:p>
        </p:txBody>
      </p:sp>
      <p:sp>
        <p:nvSpPr>
          <p:cNvPr id="35" name="dbstat-0"/>
          <p:cNvSpPr/>
          <p:nvPr/>
        </p:nvSpPr>
        <p:spPr>
          <a:xfrm>
            <a:off x="6263640" y="1143000"/>
            <a:ext cx="2423160" cy="731520"/>
          </a:xfrm>
          <a:prstGeom prst="roundRect">
            <a:avLst>
              <a:gd name="adj" fmla="val 15000"/>
            </a:avLst>
          </a:prstGeom>
          <a:solidFill>
            <a:schemeClr val="bg2"/>
          </a:solidFill>
          <a:ln/>
        </p:spPr>
      </p:sp>
      <p:sp>
        <p:nvSpPr>
          <p:cNvPr id="36" name="Text 34"/>
          <p:cNvSpPr txBox="1"/>
          <p:nvPr/>
        </p:nvSpPr>
        <p:spPr>
          <a:xfrm>
            <a:off x="6400800" y="1252728"/>
            <a:ext cx="86868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73</a:t>
            </a:r>
            <a:endParaRPr lang="en-US" sz="2800" dirty="0"/>
          </a:p>
        </p:txBody>
      </p:sp>
      <p:sp>
        <p:nvSpPr>
          <p:cNvPr id="37" name="Text 35"/>
          <p:cNvSpPr txBox="1"/>
          <p:nvPr/>
        </p:nvSpPr>
        <p:spPr>
          <a:xfrm>
            <a:off x="7269480" y="1371600"/>
            <a:ext cx="1371600" cy="365760"/>
          </a:xfrm>
          <a:prstGeom prst="rect">
            <a:avLst/>
          </a:prstGeom>
          <a:noFill/>
          <a:ln/>
        </p:spPr>
        <p:txBody>
          <a:bodyPr wrap="square" lIns="0" tIns="0" rIns="0" bIns="0" rtlCol="0" anchor="t"/>
          <a:lstStyle/>
          <a:p>
            <a:pPr indent="0" marL="0">
              <a:buNone/>
            </a:pPr>
            <a:r>
              <a:rPr lang="en-US" sz="1300" dirty="0">
                <a:solidFill>
                  <a:schemeClr val="tx1"/>
                </a:solidFill>
              </a:rPr>
              <a:t>bảng</a:t>
            </a:r>
            <a:endParaRPr lang="en-US" sz="1300" dirty="0"/>
          </a:p>
        </p:txBody>
      </p:sp>
      <p:sp>
        <p:nvSpPr>
          <p:cNvPr id="38" name="dbstat-1"/>
          <p:cNvSpPr/>
          <p:nvPr/>
        </p:nvSpPr>
        <p:spPr>
          <a:xfrm>
            <a:off x="6263640" y="2011680"/>
            <a:ext cx="2423160" cy="731520"/>
          </a:xfrm>
          <a:prstGeom prst="roundRect">
            <a:avLst>
              <a:gd name="adj" fmla="val 15000"/>
            </a:avLst>
          </a:prstGeom>
          <a:solidFill>
            <a:schemeClr val="bg2"/>
          </a:solidFill>
          <a:ln/>
        </p:spPr>
      </p:sp>
      <p:sp>
        <p:nvSpPr>
          <p:cNvPr id="39" name="Text 37"/>
          <p:cNvSpPr txBox="1"/>
          <p:nvPr/>
        </p:nvSpPr>
        <p:spPr>
          <a:xfrm>
            <a:off x="6400800" y="2121408"/>
            <a:ext cx="86868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174</a:t>
            </a:r>
            <a:endParaRPr lang="en-US" sz="2800" dirty="0"/>
          </a:p>
        </p:txBody>
      </p:sp>
      <p:sp>
        <p:nvSpPr>
          <p:cNvPr id="40" name="Text 38"/>
          <p:cNvSpPr txBox="1"/>
          <p:nvPr/>
        </p:nvSpPr>
        <p:spPr>
          <a:xfrm>
            <a:off x="7269480" y="2240280"/>
            <a:ext cx="1371600" cy="365760"/>
          </a:xfrm>
          <a:prstGeom prst="rect">
            <a:avLst/>
          </a:prstGeom>
          <a:noFill/>
          <a:ln/>
        </p:spPr>
        <p:txBody>
          <a:bodyPr wrap="square" lIns="0" tIns="0" rIns="0" bIns="0" rtlCol="0" anchor="t"/>
          <a:lstStyle/>
          <a:p>
            <a:pPr indent="0" marL="0">
              <a:buNone/>
            </a:pPr>
            <a:r>
              <a:rPr lang="en-US" sz="1300" dirty="0">
                <a:solidFill>
                  <a:schemeClr val="tx1"/>
                </a:solidFill>
              </a:rPr>
              <a:t>khóa ngoại</a:t>
            </a:r>
            <a:endParaRPr lang="en-US" sz="1300" dirty="0"/>
          </a:p>
        </p:txBody>
      </p:sp>
      <p:sp>
        <p:nvSpPr>
          <p:cNvPr id="41" name="dbstat-2"/>
          <p:cNvSpPr/>
          <p:nvPr/>
        </p:nvSpPr>
        <p:spPr>
          <a:xfrm>
            <a:off x="6263640" y="2880360"/>
            <a:ext cx="2423160" cy="731520"/>
          </a:xfrm>
          <a:prstGeom prst="roundRect">
            <a:avLst>
              <a:gd name="adj" fmla="val 15000"/>
            </a:avLst>
          </a:prstGeom>
          <a:solidFill>
            <a:schemeClr val="bg2"/>
          </a:solidFill>
          <a:ln/>
        </p:spPr>
      </p:sp>
      <p:sp>
        <p:nvSpPr>
          <p:cNvPr id="42" name="Text 40"/>
          <p:cNvSpPr txBox="1"/>
          <p:nvPr/>
        </p:nvSpPr>
        <p:spPr>
          <a:xfrm>
            <a:off x="6400800" y="2990088"/>
            <a:ext cx="86868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84</a:t>
            </a:r>
            <a:endParaRPr lang="en-US" sz="2800" dirty="0"/>
          </a:p>
        </p:txBody>
      </p:sp>
      <p:sp>
        <p:nvSpPr>
          <p:cNvPr id="43" name="Text 41"/>
          <p:cNvSpPr txBox="1"/>
          <p:nvPr/>
        </p:nvSpPr>
        <p:spPr>
          <a:xfrm>
            <a:off x="7269480" y="3108960"/>
            <a:ext cx="1371600" cy="365760"/>
          </a:xfrm>
          <a:prstGeom prst="rect">
            <a:avLst/>
          </a:prstGeom>
          <a:noFill/>
          <a:ln/>
        </p:spPr>
        <p:txBody>
          <a:bodyPr wrap="square" lIns="0" tIns="0" rIns="0" bIns="0" rtlCol="0" anchor="t"/>
          <a:lstStyle/>
          <a:p>
            <a:pPr indent="0" marL="0">
              <a:buNone/>
            </a:pPr>
            <a:r>
              <a:rPr lang="en-US" sz="1300" dirty="0">
                <a:solidFill>
                  <a:schemeClr val="tx1"/>
                </a:solidFill>
              </a:rPr>
              <a:t>index</a:t>
            </a:r>
            <a:endParaRPr lang="en-US" sz="1300" dirty="0"/>
          </a:p>
        </p:txBody>
      </p:sp>
      <p:sp>
        <p:nvSpPr>
          <p:cNvPr id="44" name="dbstat-3"/>
          <p:cNvSpPr/>
          <p:nvPr/>
        </p:nvSpPr>
        <p:spPr>
          <a:xfrm>
            <a:off x="6263640" y="3749040"/>
            <a:ext cx="2423160" cy="731520"/>
          </a:xfrm>
          <a:prstGeom prst="roundRect">
            <a:avLst>
              <a:gd name="adj" fmla="val 15000"/>
            </a:avLst>
          </a:prstGeom>
          <a:solidFill>
            <a:schemeClr val="bg2"/>
          </a:solidFill>
          <a:ln/>
        </p:spPr>
      </p:sp>
      <p:sp>
        <p:nvSpPr>
          <p:cNvPr id="45" name="Text 43"/>
          <p:cNvSpPr txBox="1"/>
          <p:nvPr/>
        </p:nvSpPr>
        <p:spPr>
          <a:xfrm>
            <a:off x="6400800" y="3858768"/>
            <a:ext cx="86868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38</a:t>
            </a:r>
            <a:endParaRPr lang="en-US" sz="2800" dirty="0"/>
          </a:p>
        </p:txBody>
      </p:sp>
      <p:sp>
        <p:nvSpPr>
          <p:cNvPr id="46" name="Text 44"/>
          <p:cNvSpPr txBox="1"/>
          <p:nvPr/>
        </p:nvSpPr>
        <p:spPr>
          <a:xfrm>
            <a:off x="7269480" y="3977640"/>
            <a:ext cx="1371600" cy="365760"/>
          </a:xfrm>
          <a:prstGeom prst="rect">
            <a:avLst/>
          </a:prstGeom>
          <a:noFill/>
          <a:ln/>
        </p:spPr>
        <p:txBody>
          <a:bodyPr wrap="square" lIns="0" tIns="0" rIns="0" bIns="0" rtlCol="0" anchor="t"/>
          <a:lstStyle/>
          <a:p>
            <a:pPr indent="0" marL="0">
              <a:buNone/>
            </a:pPr>
            <a:r>
              <a:rPr lang="en-US" sz="1300" dirty="0">
                <a:solidFill>
                  <a:schemeClr val="tx1"/>
                </a:solidFill>
              </a:rPr>
              <a:t>migration, chỉ thêm mới</a:t>
            </a:r>
            <a:endParaRPr lang="en-US" sz="13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Chức năng cho 3 nhóm người dùng</a:t>
            </a:r>
            <a:endParaRPr lang="en-US" sz="3000" dirty="0"/>
          </a:p>
        </p:txBody>
      </p:sp>
      <p:sp>
        <p:nvSpPr>
          <p:cNvPr id="3" name="icon-bg-LuSmartphone"/>
          <p:cNvSpPr/>
          <p:nvPr/>
        </p:nvSpPr>
        <p:spPr>
          <a:xfrm>
            <a:off x="457200" y="1051560"/>
            <a:ext cx="384048" cy="384048"/>
          </a:xfrm>
          <a:prstGeom prst="ellipse">
            <a:avLst/>
          </a:prstGeom>
          <a:solidFill>
            <a:schemeClr val="accent1"/>
          </a:solidFill>
          <a:ln/>
        </p:spPr>
      </p:sp>
      <p:pic>
        <p:nvPicPr>
          <p:cNvPr id="4" name="icon-LuSmartphone" descr="preencoded.png">    </p:cNvPr>
          <p:cNvPicPr>
            <a:picLocks noChangeAspect="1"/>
          </p:cNvPicPr>
          <p:nvPr/>
        </p:nvPicPr>
        <p:blipFill>
          <a:blip r:embed="rId1"/>
          <a:stretch>
            <a:fillRect/>
          </a:stretch>
        </p:blipFill>
        <p:spPr>
          <a:xfrm>
            <a:off x="549372" y="1143732"/>
            <a:ext cx="199705" cy="199705"/>
          </a:xfrm>
          <a:prstGeom prst="rect">
            <a:avLst/>
          </a:prstGeom>
        </p:spPr>
      </p:pic>
      <p:sp>
        <p:nvSpPr>
          <p:cNvPr id="5" name="Text 2"/>
          <p:cNvSpPr txBox="1"/>
          <p:nvPr/>
        </p:nvSpPr>
        <p:spPr>
          <a:xfrm>
            <a:off x="932688" y="1097280"/>
            <a:ext cx="1371600" cy="320040"/>
          </a:xfrm>
          <a:prstGeom prst="rect">
            <a:avLst/>
          </a:prstGeom>
          <a:noFill/>
          <a:ln/>
        </p:spPr>
        <p:txBody>
          <a:bodyPr wrap="square" lIns="0" tIns="0" rIns="0" bIns="0" rtlCol="0" anchor="t"/>
          <a:lstStyle/>
          <a:p>
            <a:pPr indent="0" marL="0">
              <a:buNone/>
            </a:pPr>
            <a:r>
              <a:rPr lang="en-US" sz="1600" b="1" dirty="0">
                <a:solidFill>
                  <a:schemeClr val="tx1"/>
                </a:solidFill>
              </a:rPr>
              <a:t>Khách</a:t>
            </a:r>
            <a:endParaRPr lang="en-US" sz="1600" dirty="0"/>
          </a:p>
        </p:txBody>
      </p:sp>
      <p:pic>
        <p:nvPicPr>
          <p:cNvPr id="6" name="shot-Khách" descr="Thực đơn trên điện thoại">    </p:cNvPr>
          <p:cNvPicPr>
            <a:picLocks noChangeAspect="1"/>
          </p:cNvPicPr>
          <p:nvPr/>
        </p:nvPicPr>
        <p:blipFill>
          <a:blip r:embed="rId2"/>
          <a:stretch>
            <a:fillRect/>
          </a:stretch>
        </p:blipFill>
        <p:spPr>
          <a:xfrm>
            <a:off x="937260" y="1572768"/>
            <a:ext cx="868680" cy="1874520"/>
          </a:xfrm>
          <a:prstGeom prst="rect">
            <a:avLst/>
          </a:prstGeom>
        </p:spPr>
      </p:pic>
      <p:sp>
        <p:nvSpPr>
          <p:cNvPr id="7" name="Text 3"/>
          <p:cNvSpPr txBox="1"/>
          <p:nvPr/>
        </p:nvSpPr>
        <p:spPr>
          <a:xfrm>
            <a:off x="457200" y="3611880"/>
            <a:ext cx="1828800" cy="10058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Quét QR mở bàn</a:t>
            </a:r>
            <a:endParaRPr lang="en-US" sz="1300" dirty="0"/>
          </a:p>
          <a:p>
            <a:pPr marL="342900" indent="-342900">
              <a:spcAft>
                <a:spcPts val="400"/>
              </a:spcAft>
              <a:buSzPct val="100000"/>
              <a:buChar char="•"/>
            </a:pPr>
            <a:r>
              <a:rPr lang="en-US" sz="1300" dirty="0">
                <a:solidFill>
                  <a:schemeClr val="tx1"/>
                </a:solidFill>
              </a:rPr>
              <a:t>Gọi món, combo</a:t>
            </a:r>
            <a:endParaRPr lang="en-US" sz="1300" dirty="0"/>
          </a:p>
          <a:p>
            <a:pPr marL="342900" indent="-342900">
              <a:spcAft>
                <a:spcPts val="400"/>
              </a:spcAft>
              <a:buSzPct val="100000"/>
              <a:buChar char="•"/>
            </a:pPr>
            <a:r>
              <a:rPr lang="en-US" sz="1300" dirty="0">
                <a:solidFill>
                  <a:schemeClr val="tx1"/>
                </a:solidFill>
              </a:rPr>
              <a:t>Theo dõi đơn</a:t>
            </a:r>
            <a:endParaRPr lang="en-US" sz="1300" dirty="0"/>
          </a:p>
          <a:p>
            <a:pPr marL="342900" indent="-342900">
              <a:spcAft>
                <a:spcPts val="400"/>
              </a:spcAft>
              <a:buSzPct val="100000"/>
              <a:buChar char="•"/>
            </a:pPr>
            <a:r>
              <a:rPr lang="en-US" sz="1300" dirty="0">
                <a:solidFill>
                  <a:schemeClr val="tx1"/>
                </a:solidFill>
              </a:rPr>
              <a:t>Chia bill</a:t>
            </a:r>
            <a:endParaRPr lang="en-US" sz="1300" dirty="0"/>
          </a:p>
        </p:txBody>
      </p:sp>
      <p:sp>
        <p:nvSpPr>
          <p:cNvPr id="8" name="icon-bg-LuMonitor"/>
          <p:cNvSpPr/>
          <p:nvPr/>
        </p:nvSpPr>
        <p:spPr>
          <a:xfrm>
            <a:off x="2514600" y="1051560"/>
            <a:ext cx="384048" cy="384048"/>
          </a:xfrm>
          <a:prstGeom prst="ellipse">
            <a:avLst/>
          </a:prstGeom>
          <a:solidFill>
            <a:schemeClr val="accent1"/>
          </a:solidFill>
          <a:ln/>
        </p:spPr>
      </p:sp>
      <p:pic>
        <p:nvPicPr>
          <p:cNvPr id="9" name="icon-LuMonitor" descr="preencoded.png">    </p:cNvPr>
          <p:cNvPicPr>
            <a:picLocks noChangeAspect="1"/>
          </p:cNvPicPr>
          <p:nvPr/>
        </p:nvPicPr>
        <p:blipFill>
          <a:blip r:embed="rId3"/>
          <a:stretch>
            <a:fillRect/>
          </a:stretch>
        </p:blipFill>
        <p:spPr>
          <a:xfrm>
            <a:off x="2606772" y="1143732"/>
            <a:ext cx="199705" cy="199705"/>
          </a:xfrm>
          <a:prstGeom prst="rect">
            <a:avLst/>
          </a:prstGeom>
        </p:spPr>
      </p:pic>
      <p:sp>
        <p:nvSpPr>
          <p:cNvPr id="10" name="Text 5"/>
          <p:cNvSpPr txBox="1"/>
          <p:nvPr/>
        </p:nvSpPr>
        <p:spPr>
          <a:xfrm>
            <a:off x="2990088" y="1097280"/>
            <a:ext cx="2788920" cy="320040"/>
          </a:xfrm>
          <a:prstGeom prst="rect">
            <a:avLst/>
          </a:prstGeom>
          <a:noFill/>
          <a:ln/>
        </p:spPr>
        <p:txBody>
          <a:bodyPr wrap="square" lIns="0" tIns="0" rIns="0" bIns="0" rtlCol="0" anchor="t"/>
          <a:lstStyle/>
          <a:p>
            <a:pPr indent="0" marL="0">
              <a:buNone/>
            </a:pPr>
            <a:r>
              <a:rPr lang="en-US" sz="1600" b="1" dirty="0">
                <a:solidFill>
                  <a:schemeClr val="tx1"/>
                </a:solidFill>
              </a:rPr>
              <a:t>Quầy</a:t>
            </a:r>
            <a:endParaRPr lang="en-US" sz="1600" dirty="0"/>
          </a:p>
        </p:txBody>
      </p:sp>
      <p:pic>
        <p:nvPicPr>
          <p:cNvPr id="11" name="shot-Quầy" descr="Màn quầy Đơn hàng">    </p:cNvPr>
          <p:cNvPicPr>
            <a:picLocks noChangeAspect="1"/>
          </p:cNvPicPr>
          <p:nvPr/>
        </p:nvPicPr>
        <p:blipFill>
          <a:blip r:embed="rId4"/>
          <a:stretch>
            <a:fillRect/>
          </a:stretch>
        </p:blipFill>
        <p:spPr>
          <a:xfrm>
            <a:off x="2514600" y="1572768"/>
            <a:ext cx="3246120" cy="1828800"/>
          </a:xfrm>
          <a:prstGeom prst="rect">
            <a:avLst/>
          </a:prstGeom>
        </p:spPr>
      </p:pic>
      <p:sp>
        <p:nvSpPr>
          <p:cNvPr id="12" name="Text 6"/>
          <p:cNvSpPr txBox="1"/>
          <p:nvPr/>
        </p:nvSpPr>
        <p:spPr>
          <a:xfrm>
            <a:off x="2514600" y="3611880"/>
            <a:ext cx="3246120" cy="10058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Nhận đơn realtime, đồng hồ chờ</a:t>
            </a:r>
            <a:endParaRPr lang="en-US" sz="1300" dirty="0"/>
          </a:p>
          <a:p>
            <a:pPr marL="342900" indent="-342900">
              <a:spcAft>
                <a:spcPts val="400"/>
              </a:spcAft>
              <a:buSzPct val="100000"/>
              <a:buChar char="•"/>
            </a:pPr>
            <a:r>
              <a:rPr lang="en-US" sz="1300" dirty="0">
                <a:solidFill>
                  <a:schemeClr val="tx1"/>
                </a:solidFill>
              </a:rPr>
              <a:t>Lưới bàn, thu tiền, in bill</a:t>
            </a:r>
            <a:endParaRPr lang="en-US" sz="1300" dirty="0"/>
          </a:p>
          <a:p>
            <a:pPr marL="342900" indent="-342900">
              <a:spcAft>
                <a:spcPts val="400"/>
              </a:spcAft>
              <a:buSzPct val="100000"/>
              <a:buChar char="•"/>
            </a:pPr>
            <a:r>
              <a:rPr lang="en-US" sz="1300" dirty="0">
                <a:solidFill>
                  <a:schemeClr val="tx1"/>
                </a:solidFill>
              </a:rPr>
              <a:t>Ca tiền mặt, kho &amp; sơ chế</a:t>
            </a:r>
            <a:endParaRPr lang="en-US" sz="1300" dirty="0"/>
          </a:p>
        </p:txBody>
      </p:sp>
      <p:sp>
        <p:nvSpPr>
          <p:cNvPr id="13" name="icon-bg-LuLayoutDashboard"/>
          <p:cNvSpPr/>
          <p:nvPr/>
        </p:nvSpPr>
        <p:spPr>
          <a:xfrm>
            <a:off x="5989320" y="1051560"/>
            <a:ext cx="384048" cy="384048"/>
          </a:xfrm>
          <a:prstGeom prst="ellipse">
            <a:avLst/>
          </a:prstGeom>
          <a:solidFill>
            <a:schemeClr val="accent1"/>
          </a:solidFill>
          <a:ln/>
        </p:spPr>
      </p:sp>
      <p:pic>
        <p:nvPicPr>
          <p:cNvPr id="14" name="icon-LuLayoutDashboard" descr="preencoded.png">    </p:cNvPr>
          <p:cNvPicPr>
            <a:picLocks noChangeAspect="1"/>
          </p:cNvPicPr>
          <p:nvPr/>
        </p:nvPicPr>
        <p:blipFill>
          <a:blip r:embed="rId5"/>
          <a:stretch>
            <a:fillRect/>
          </a:stretch>
        </p:blipFill>
        <p:spPr>
          <a:xfrm>
            <a:off x="6081492" y="1143732"/>
            <a:ext cx="199705" cy="199705"/>
          </a:xfrm>
          <a:prstGeom prst="rect">
            <a:avLst/>
          </a:prstGeom>
        </p:spPr>
      </p:pic>
      <p:sp>
        <p:nvSpPr>
          <p:cNvPr id="15" name="Text 8"/>
          <p:cNvSpPr txBox="1"/>
          <p:nvPr/>
        </p:nvSpPr>
        <p:spPr>
          <a:xfrm>
            <a:off x="6464808" y="1097280"/>
            <a:ext cx="2240280" cy="320040"/>
          </a:xfrm>
          <a:prstGeom prst="rect">
            <a:avLst/>
          </a:prstGeom>
          <a:noFill/>
          <a:ln/>
        </p:spPr>
        <p:txBody>
          <a:bodyPr wrap="square" lIns="0" tIns="0" rIns="0" bIns="0" rtlCol="0" anchor="t"/>
          <a:lstStyle/>
          <a:p>
            <a:pPr indent="0" marL="0">
              <a:buNone/>
            </a:pPr>
            <a:r>
              <a:rPr lang="en-US" sz="1600" b="1" dirty="0">
                <a:solidFill>
                  <a:schemeClr val="tx1"/>
                </a:solidFill>
              </a:rPr>
              <a:t>Quản lý</a:t>
            </a:r>
            <a:endParaRPr lang="en-US" sz="1600" dirty="0"/>
          </a:p>
        </p:txBody>
      </p:sp>
      <p:pic>
        <p:nvPicPr>
          <p:cNvPr id="16" name="shot-Quản lý" descr="Biểu đồ dự báo doanh thu">    </p:cNvPr>
          <p:cNvPicPr>
            <a:picLocks noChangeAspect="1"/>
          </p:cNvPicPr>
          <p:nvPr/>
        </p:nvPicPr>
        <p:blipFill>
          <a:blip r:embed="rId6"/>
          <a:stretch>
            <a:fillRect/>
          </a:stretch>
        </p:blipFill>
        <p:spPr>
          <a:xfrm>
            <a:off x="5989320" y="1572768"/>
            <a:ext cx="2697480" cy="1700784"/>
          </a:xfrm>
          <a:prstGeom prst="rect">
            <a:avLst/>
          </a:prstGeom>
        </p:spPr>
      </p:pic>
      <p:sp>
        <p:nvSpPr>
          <p:cNvPr id="17" name="Text 9"/>
          <p:cNvSpPr txBox="1"/>
          <p:nvPr/>
        </p:nvSpPr>
        <p:spPr>
          <a:xfrm>
            <a:off x="5989320" y="3611880"/>
            <a:ext cx="2697480" cy="10058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Menu, kho, nhà cung cấp</a:t>
            </a:r>
            <a:endParaRPr lang="en-US" sz="1300" dirty="0"/>
          </a:p>
          <a:p>
            <a:pPr marL="342900" indent="-342900">
              <a:spcAft>
                <a:spcPts val="400"/>
              </a:spcAft>
              <a:buSzPct val="100000"/>
              <a:buChar char="•"/>
            </a:pPr>
            <a:r>
              <a:rPr lang="en-US" sz="1300" dirty="0">
                <a:solidFill>
                  <a:schemeClr val="tx1"/>
                </a:solidFill>
              </a:rPr>
              <a:t>Hội viên, khuyến mãi, CRM</a:t>
            </a:r>
            <a:endParaRPr lang="en-US" sz="1300" dirty="0"/>
          </a:p>
          <a:p>
            <a:pPr marL="342900" indent="-342900">
              <a:spcAft>
                <a:spcPts val="400"/>
              </a:spcAft>
              <a:buSzPct val="100000"/>
              <a:buChar char="•"/>
            </a:pPr>
            <a:r>
              <a:rPr lang="en-US" sz="1300" dirty="0">
                <a:solidFill>
                  <a:schemeClr val="tx1"/>
                </a:solidFill>
              </a:rPr>
              <a:t>Báo cáo, lãi / lỗ, dự báo</a:t>
            </a:r>
            <a:endParaRPr lang="en-US" sz="13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Bảo mật và phân quyền</a:t>
            </a:r>
            <a:endParaRPr lang="en-US" sz="3000" dirty="0"/>
          </a:p>
        </p:txBody>
      </p:sp>
      <p:sp>
        <p:nvSpPr>
          <p:cNvPr id="3" name="icon-bg-LuKeyRound"/>
          <p:cNvSpPr/>
          <p:nvPr/>
        </p:nvSpPr>
        <p:spPr>
          <a:xfrm>
            <a:off x="457200" y="1143000"/>
            <a:ext cx="502920" cy="502920"/>
          </a:xfrm>
          <a:prstGeom prst="ellipse">
            <a:avLst/>
          </a:prstGeom>
          <a:solidFill>
            <a:schemeClr val="accent1"/>
          </a:solidFill>
          <a:ln/>
        </p:spPr>
      </p:sp>
      <p:pic>
        <p:nvPicPr>
          <p:cNvPr id="4" name="icon-LuKeyRound" descr="preencoded.png">    </p:cNvPr>
          <p:cNvPicPr>
            <a:picLocks noChangeAspect="1"/>
          </p:cNvPicPr>
          <p:nvPr/>
        </p:nvPicPr>
        <p:blipFill>
          <a:blip r:embed="rId1"/>
          <a:stretch>
            <a:fillRect/>
          </a:stretch>
        </p:blipFill>
        <p:spPr>
          <a:xfrm>
            <a:off x="577901" y="1263701"/>
            <a:ext cx="261518" cy="261518"/>
          </a:xfrm>
          <a:prstGeom prst="rect">
            <a:avLst/>
          </a:prstGeom>
        </p:spPr>
      </p:pic>
      <p:sp>
        <p:nvSpPr>
          <p:cNvPr id="5" name="Text 2"/>
          <p:cNvSpPr txBox="1"/>
          <p:nvPr/>
        </p:nvSpPr>
        <p:spPr>
          <a:xfrm>
            <a:off x="1143000" y="1097280"/>
            <a:ext cx="3337560" cy="320040"/>
          </a:xfrm>
          <a:prstGeom prst="rect">
            <a:avLst/>
          </a:prstGeom>
          <a:noFill/>
          <a:ln/>
        </p:spPr>
        <p:txBody>
          <a:bodyPr wrap="square" lIns="0" tIns="0" rIns="0" bIns="0" rtlCol="0" anchor="t"/>
          <a:lstStyle/>
          <a:p>
            <a:pPr indent="0" marL="0">
              <a:buNone/>
            </a:pPr>
            <a:r>
              <a:rPr lang="en-US" sz="1600" b="1" dirty="0">
                <a:solidFill>
                  <a:schemeClr val="tx1"/>
                </a:solidFill>
              </a:rPr>
              <a:t>Đăng nhập JWT</a:t>
            </a:r>
            <a:endParaRPr lang="en-US" sz="1600" dirty="0"/>
          </a:p>
        </p:txBody>
      </p:sp>
      <p:sp>
        <p:nvSpPr>
          <p:cNvPr id="6" name="Text 3"/>
          <p:cNvSpPr txBox="1"/>
          <p:nvPr/>
        </p:nvSpPr>
        <p:spPr>
          <a:xfrm>
            <a:off x="1143000" y="1426464"/>
            <a:ext cx="3337560" cy="685800"/>
          </a:xfrm>
          <a:prstGeom prst="rect">
            <a:avLst/>
          </a:prstGeom>
          <a:noFill/>
          <a:ln/>
        </p:spPr>
        <p:txBody>
          <a:bodyPr wrap="square" lIns="0" tIns="0" rIns="0" bIns="0" rtlCol="0" anchor="t"/>
          <a:lstStyle/>
          <a:p>
            <a:pPr indent="0" marL="0">
              <a:buNone/>
            </a:pPr>
            <a:r>
              <a:rPr lang="en-US" sz="1300" dirty="0">
                <a:solidFill>
                  <a:schemeClr val="accent6"/>
                </a:solidFill>
              </a:rPr>
              <a:t>Token ký bằng khóa bí mật, có hạn dùng; khách dùng mã phiên trong cookie httpOnly.</a:t>
            </a:r>
            <a:endParaRPr lang="en-US" sz="1300" dirty="0"/>
          </a:p>
        </p:txBody>
      </p:sp>
      <p:sp>
        <p:nvSpPr>
          <p:cNvPr id="7" name="icon-bg-LuLock"/>
          <p:cNvSpPr/>
          <p:nvPr/>
        </p:nvSpPr>
        <p:spPr>
          <a:xfrm>
            <a:off x="4663440" y="1143000"/>
            <a:ext cx="502920" cy="502920"/>
          </a:xfrm>
          <a:prstGeom prst="ellipse">
            <a:avLst/>
          </a:prstGeom>
          <a:solidFill>
            <a:schemeClr val="accent1"/>
          </a:solidFill>
          <a:ln/>
        </p:spPr>
      </p:sp>
      <p:pic>
        <p:nvPicPr>
          <p:cNvPr id="8" name="icon-LuLock" descr="preencoded.png">    </p:cNvPr>
          <p:cNvPicPr>
            <a:picLocks noChangeAspect="1"/>
          </p:cNvPicPr>
          <p:nvPr/>
        </p:nvPicPr>
        <p:blipFill>
          <a:blip r:embed="rId2"/>
          <a:stretch>
            <a:fillRect/>
          </a:stretch>
        </p:blipFill>
        <p:spPr>
          <a:xfrm>
            <a:off x="4784141" y="1263701"/>
            <a:ext cx="261518" cy="261518"/>
          </a:xfrm>
          <a:prstGeom prst="rect">
            <a:avLst/>
          </a:prstGeom>
        </p:spPr>
      </p:pic>
      <p:sp>
        <p:nvSpPr>
          <p:cNvPr id="9" name="Text 5"/>
          <p:cNvSpPr txBox="1"/>
          <p:nvPr/>
        </p:nvSpPr>
        <p:spPr>
          <a:xfrm>
            <a:off x="5349240" y="1097280"/>
            <a:ext cx="3337560" cy="320040"/>
          </a:xfrm>
          <a:prstGeom prst="rect">
            <a:avLst/>
          </a:prstGeom>
          <a:noFill/>
          <a:ln/>
        </p:spPr>
        <p:txBody>
          <a:bodyPr wrap="square" lIns="0" tIns="0" rIns="0" bIns="0" rtlCol="0" anchor="t"/>
          <a:lstStyle/>
          <a:p>
            <a:pPr indent="0" marL="0">
              <a:buNone/>
            </a:pPr>
            <a:r>
              <a:rPr lang="en-US" sz="1600" b="1" dirty="0">
                <a:solidFill>
                  <a:schemeClr val="tx1"/>
                </a:solidFill>
              </a:rPr>
              <a:t>Mật khẩu băm bcrypt</a:t>
            </a:r>
            <a:endParaRPr lang="en-US" sz="1600" dirty="0"/>
          </a:p>
        </p:txBody>
      </p:sp>
      <p:sp>
        <p:nvSpPr>
          <p:cNvPr id="10" name="Text 6"/>
          <p:cNvSpPr txBox="1"/>
          <p:nvPr/>
        </p:nvSpPr>
        <p:spPr>
          <a:xfrm>
            <a:off x="5349240" y="1426464"/>
            <a:ext cx="3337560" cy="685800"/>
          </a:xfrm>
          <a:prstGeom prst="rect">
            <a:avLst/>
          </a:prstGeom>
          <a:noFill/>
          <a:ln/>
        </p:spPr>
        <p:txBody>
          <a:bodyPr wrap="square" lIns="0" tIns="0" rIns="0" bIns="0" rtlCol="0" anchor="t"/>
          <a:lstStyle/>
          <a:p>
            <a:pPr indent="0" marL="0">
              <a:buNone/>
            </a:pPr>
            <a:r>
              <a:rPr lang="en-US" sz="1300" dirty="0">
                <a:solidFill>
                  <a:schemeClr val="accent6"/>
                </a:solidFill>
              </a:rPr>
              <a:t>Không lưu mật khẩu thô; so sánh chống dò theo thời gian.</a:t>
            </a:r>
            <a:endParaRPr lang="en-US" sz="1300" dirty="0"/>
          </a:p>
        </p:txBody>
      </p:sp>
      <p:sp>
        <p:nvSpPr>
          <p:cNvPr id="11" name="icon-bg-LuUsers"/>
          <p:cNvSpPr/>
          <p:nvPr/>
        </p:nvSpPr>
        <p:spPr>
          <a:xfrm>
            <a:off x="457200" y="2331720"/>
            <a:ext cx="502920" cy="502920"/>
          </a:xfrm>
          <a:prstGeom prst="ellipse">
            <a:avLst/>
          </a:prstGeom>
          <a:solidFill>
            <a:schemeClr val="accent1"/>
          </a:solidFill>
          <a:ln/>
        </p:spPr>
      </p:sp>
      <p:pic>
        <p:nvPicPr>
          <p:cNvPr id="12" name="icon-LuUsers" descr="preencoded.png">    </p:cNvPr>
          <p:cNvPicPr>
            <a:picLocks noChangeAspect="1"/>
          </p:cNvPicPr>
          <p:nvPr/>
        </p:nvPicPr>
        <p:blipFill>
          <a:blip r:embed="rId3"/>
          <a:stretch>
            <a:fillRect/>
          </a:stretch>
        </p:blipFill>
        <p:spPr>
          <a:xfrm>
            <a:off x="577901" y="2452421"/>
            <a:ext cx="261518" cy="261518"/>
          </a:xfrm>
          <a:prstGeom prst="rect">
            <a:avLst/>
          </a:prstGeom>
        </p:spPr>
      </p:pic>
      <p:sp>
        <p:nvSpPr>
          <p:cNvPr id="13" name="Text 8"/>
          <p:cNvSpPr txBox="1"/>
          <p:nvPr/>
        </p:nvSpPr>
        <p:spPr>
          <a:xfrm>
            <a:off x="1143000" y="2286000"/>
            <a:ext cx="3337560" cy="320040"/>
          </a:xfrm>
          <a:prstGeom prst="rect">
            <a:avLst/>
          </a:prstGeom>
          <a:noFill/>
          <a:ln/>
        </p:spPr>
        <p:txBody>
          <a:bodyPr wrap="square" lIns="0" tIns="0" rIns="0" bIns="0" rtlCol="0" anchor="t"/>
          <a:lstStyle/>
          <a:p>
            <a:pPr indent="0" marL="0">
              <a:buNone/>
            </a:pPr>
            <a:r>
              <a:rPr lang="en-US" sz="1600" b="1" dirty="0">
                <a:solidFill>
                  <a:schemeClr val="tx1"/>
                </a:solidFill>
              </a:rPr>
              <a:t>3 vai trò + bảng quyền</a:t>
            </a:r>
            <a:endParaRPr lang="en-US" sz="1600" dirty="0"/>
          </a:p>
        </p:txBody>
      </p:sp>
      <p:sp>
        <p:nvSpPr>
          <p:cNvPr id="14" name="Text 9"/>
          <p:cNvSpPr txBox="1"/>
          <p:nvPr/>
        </p:nvSpPr>
        <p:spPr>
          <a:xfrm>
            <a:off x="1143000" y="2615184"/>
            <a:ext cx="3337560" cy="685800"/>
          </a:xfrm>
          <a:prstGeom prst="rect">
            <a:avLst/>
          </a:prstGeom>
          <a:noFill/>
          <a:ln/>
        </p:spPr>
        <p:txBody>
          <a:bodyPr wrap="square" lIns="0" tIns="0" rIns="0" bIns="0" rtlCol="0" anchor="t"/>
          <a:lstStyle/>
          <a:p>
            <a:pPr indent="0" marL="0">
              <a:buNone/>
            </a:pPr>
            <a:r>
              <a:rPr lang="en-US" sz="1300" dirty="0">
                <a:solidFill>
                  <a:schemeClr val="accent6"/>
                </a:solidFill>
              </a:rPr>
              <a:t>Middleware requireStaff / requireAdmin và bảng quyền kiểm tại server.</a:t>
            </a:r>
            <a:endParaRPr lang="en-US" sz="1300" dirty="0"/>
          </a:p>
        </p:txBody>
      </p:sp>
      <p:sp>
        <p:nvSpPr>
          <p:cNvPr id="15" name="icon-bg-LuListChecks"/>
          <p:cNvSpPr/>
          <p:nvPr/>
        </p:nvSpPr>
        <p:spPr>
          <a:xfrm>
            <a:off x="4663440" y="2331720"/>
            <a:ext cx="502920" cy="502920"/>
          </a:xfrm>
          <a:prstGeom prst="ellipse">
            <a:avLst/>
          </a:prstGeom>
          <a:solidFill>
            <a:schemeClr val="accent1"/>
          </a:solidFill>
          <a:ln/>
        </p:spPr>
      </p:sp>
      <p:pic>
        <p:nvPicPr>
          <p:cNvPr id="16" name="icon-LuListChecks" descr="preencoded.png">    </p:cNvPr>
          <p:cNvPicPr>
            <a:picLocks noChangeAspect="1"/>
          </p:cNvPicPr>
          <p:nvPr/>
        </p:nvPicPr>
        <p:blipFill>
          <a:blip r:embed="rId4"/>
          <a:stretch>
            <a:fillRect/>
          </a:stretch>
        </p:blipFill>
        <p:spPr>
          <a:xfrm>
            <a:off x="4784141" y="2452421"/>
            <a:ext cx="261518" cy="261518"/>
          </a:xfrm>
          <a:prstGeom prst="rect">
            <a:avLst/>
          </a:prstGeom>
        </p:spPr>
      </p:pic>
      <p:sp>
        <p:nvSpPr>
          <p:cNvPr id="17" name="Text 11"/>
          <p:cNvSpPr txBox="1"/>
          <p:nvPr/>
        </p:nvSpPr>
        <p:spPr>
          <a:xfrm>
            <a:off x="5349240" y="2286000"/>
            <a:ext cx="3337560" cy="320040"/>
          </a:xfrm>
          <a:prstGeom prst="rect">
            <a:avLst/>
          </a:prstGeom>
          <a:noFill/>
          <a:ln/>
        </p:spPr>
        <p:txBody>
          <a:bodyPr wrap="square" lIns="0" tIns="0" rIns="0" bIns="0" rtlCol="0" anchor="t"/>
          <a:lstStyle/>
          <a:p>
            <a:pPr indent="0" marL="0">
              <a:buNone/>
            </a:pPr>
            <a:r>
              <a:rPr lang="en-US" sz="1600" b="1" dirty="0">
                <a:solidFill>
                  <a:schemeClr val="tx1"/>
                </a:solidFill>
              </a:rPr>
              <a:t>Validate mọi đầu vào (zod)</a:t>
            </a:r>
            <a:endParaRPr lang="en-US" sz="1600" dirty="0"/>
          </a:p>
        </p:txBody>
      </p:sp>
      <p:sp>
        <p:nvSpPr>
          <p:cNvPr id="18" name="Text 12"/>
          <p:cNvSpPr txBox="1"/>
          <p:nvPr/>
        </p:nvSpPr>
        <p:spPr>
          <a:xfrm>
            <a:off x="5349240" y="2615184"/>
            <a:ext cx="3337560" cy="685800"/>
          </a:xfrm>
          <a:prstGeom prst="rect">
            <a:avLst/>
          </a:prstGeom>
          <a:noFill/>
          <a:ln/>
        </p:spPr>
        <p:txBody>
          <a:bodyPr wrap="square" lIns="0" tIns="0" rIns="0" bIns="0" rtlCol="0" anchor="t"/>
          <a:lstStyle/>
          <a:p>
            <a:pPr indent="0" marL="0">
              <a:buNone/>
            </a:pPr>
            <a:r>
              <a:rPr lang="en-US" sz="1300" dirty="0">
                <a:solidFill>
                  <a:schemeClr val="accent6"/>
                </a:solidFill>
              </a:rPr>
              <a:t>Sai kiểu hoặc thiếu trường → 400 kèm lỗi từng trường.</a:t>
            </a:r>
            <a:endParaRPr lang="en-US" sz="1300" dirty="0"/>
          </a:p>
        </p:txBody>
      </p:sp>
      <p:sp>
        <p:nvSpPr>
          <p:cNvPr id="19" name="icon-bg-LuShield"/>
          <p:cNvSpPr/>
          <p:nvPr/>
        </p:nvSpPr>
        <p:spPr>
          <a:xfrm>
            <a:off x="457200" y="3520440"/>
            <a:ext cx="502920" cy="502920"/>
          </a:xfrm>
          <a:prstGeom prst="ellipse">
            <a:avLst/>
          </a:prstGeom>
          <a:solidFill>
            <a:schemeClr val="accent1"/>
          </a:solidFill>
          <a:ln/>
        </p:spPr>
      </p:sp>
      <p:pic>
        <p:nvPicPr>
          <p:cNvPr id="20" name="icon-LuShield" descr="preencoded.png">    </p:cNvPr>
          <p:cNvPicPr>
            <a:picLocks noChangeAspect="1"/>
          </p:cNvPicPr>
          <p:nvPr/>
        </p:nvPicPr>
        <p:blipFill>
          <a:blip r:embed="rId5"/>
          <a:stretch>
            <a:fillRect/>
          </a:stretch>
        </p:blipFill>
        <p:spPr>
          <a:xfrm>
            <a:off x="577901" y="3641141"/>
            <a:ext cx="261518" cy="261518"/>
          </a:xfrm>
          <a:prstGeom prst="rect">
            <a:avLst/>
          </a:prstGeom>
        </p:spPr>
      </p:pic>
      <p:sp>
        <p:nvSpPr>
          <p:cNvPr id="21" name="Text 14"/>
          <p:cNvSpPr txBox="1"/>
          <p:nvPr/>
        </p:nvSpPr>
        <p:spPr>
          <a:xfrm>
            <a:off x="1143000" y="3474720"/>
            <a:ext cx="3337560" cy="320040"/>
          </a:xfrm>
          <a:prstGeom prst="rect">
            <a:avLst/>
          </a:prstGeom>
          <a:noFill/>
          <a:ln/>
        </p:spPr>
        <p:txBody>
          <a:bodyPr wrap="square" lIns="0" tIns="0" rIns="0" bIns="0" rtlCol="0" anchor="t"/>
          <a:lstStyle/>
          <a:p>
            <a:pPr indent="0" marL="0">
              <a:buNone/>
            </a:pPr>
            <a:r>
              <a:rPr lang="en-US" sz="1600" b="1" dirty="0">
                <a:solidFill>
                  <a:schemeClr val="tx1"/>
                </a:solidFill>
              </a:rPr>
              <a:t>helmet + giới hạn tần suất</a:t>
            </a:r>
            <a:endParaRPr lang="en-US" sz="1600" dirty="0"/>
          </a:p>
        </p:txBody>
      </p:sp>
      <p:sp>
        <p:nvSpPr>
          <p:cNvPr id="22" name="Text 15"/>
          <p:cNvSpPr txBox="1"/>
          <p:nvPr/>
        </p:nvSpPr>
        <p:spPr>
          <a:xfrm>
            <a:off x="1143000" y="3803904"/>
            <a:ext cx="3337560" cy="685800"/>
          </a:xfrm>
          <a:prstGeom prst="rect">
            <a:avLst/>
          </a:prstGeom>
          <a:noFill/>
          <a:ln/>
        </p:spPr>
        <p:txBody>
          <a:bodyPr wrap="square" lIns="0" tIns="0" rIns="0" bIns="0" rtlCol="0" anchor="t"/>
          <a:lstStyle/>
          <a:p>
            <a:pPr indent="0" marL="0">
              <a:buNone/>
            </a:pPr>
            <a:r>
              <a:rPr lang="en-US" sz="1300" dirty="0">
                <a:solidFill>
                  <a:schemeClr val="accent6"/>
                </a:solidFill>
              </a:rPr>
              <a:t>Chặn dò mật khẩu và spam gửi đơn.</a:t>
            </a:r>
            <a:endParaRPr lang="en-US" sz="1300" dirty="0"/>
          </a:p>
        </p:txBody>
      </p:sp>
      <p:sp>
        <p:nvSpPr>
          <p:cNvPr id="23" name="icon-bg-LuDatabase"/>
          <p:cNvSpPr/>
          <p:nvPr/>
        </p:nvSpPr>
        <p:spPr>
          <a:xfrm>
            <a:off x="4663440" y="3520440"/>
            <a:ext cx="502920" cy="502920"/>
          </a:xfrm>
          <a:prstGeom prst="ellipse">
            <a:avLst/>
          </a:prstGeom>
          <a:solidFill>
            <a:schemeClr val="accent1"/>
          </a:solidFill>
          <a:ln/>
        </p:spPr>
      </p:sp>
      <p:pic>
        <p:nvPicPr>
          <p:cNvPr id="24" name="icon-LuDatabase" descr="preencoded.png">    </p:cNvPr>
          <p:cNvPicPr>
            <a:picLocks noChangeAspect="1"/>
          </p:cNvPicPr>
          <p:nvPr/>
        </p:nvPicPr>
        <p:blipFill>
          <a:blip r:embed="rId6"/>
          <a:stretch>
            <a:fillRect/>
          </a:stretch>
        </p:blipFill>
        <p:spPr>
          <a:xfrm>
            <a:off x="4784141" y="3641141"/>
            <a:ext cx="261518" cy="261518"/>
          </a:xfrm>
          <a:prstGeom prst="rect">
            <a:avLst/>
          </a:prstGeom>
        </p:spPr>
      </p:pic>
      <p:sp>
        <p:nvSpPr>
          <p:cNvPr id="25" name="Text 17"/>
          <p:cNvSpPr txBox="1"/>
          <p:nvPr/>
        </p:nvSpPr>
        <p:spPr>
          <a:xfrm>
            <a:off x="5349240" y="3474720"/>
            <a:ext cx="3337560" cy="320040"/>
          </a:xfrm>
          <a:prstGeom prst="rect">
            <a:avLst/>
          </a:prstGeom>
          <a:noFill/>
          <a:ln/>
        </p:spPr>
        <p:txBody>
          <a:bodyPr wrap="square" lIns="0" tIns="0" rIns="0" bIns="0" rtlCol="0" anchor="t"/>
          <a:lstStyle/>
          <a:p>
            <a:pPr indent="0" marL="0">
              <a:buNone/>
            </a:pPr>
            <a:r>
              <a:rPr lang="en-US" sz="1600" b="1" dirty="0">
                <a:solidFill>
                  <a:schemeClr val="tx1"/>
                </a:solidFill>
              </a:rPr>
              <a:t>Truy vấn có tham số</a:t>
            </a:r>
            <a:endParaRPr lang="en-US" sz="1600" dirty="0"/>
          </a:p>
        </p:txBody>
      </p:sp>
      <p:sp>
        <p:nvSpPr>
          <p:cNvPr id="26" name="Text 18"/>
          <p:cNvSpPr txBox="1"/>
          <p:nvPr/>
        </p:nvSpPr>
        <p:spPr>
          <a:xfrm>
            <a:off x="5349240" y="3803904"/>
            <a:ext cx="3337560" cy="685800"/>
          </a:xfrm>
          <a:prstGeom prst="rect">
            <a:avLst/>
          </a:prstGeom>
          <a:noFill/>
          <a:ln/>
        </p:spPr>
        <p:txBody>
          <a:bodyPr wrap="square" lIns="0" tIns="0" rIns="0" bIns="0" rtlCol="0" anchor="t"/>
          <a:lstStyle/>
          <a:p>
            <a:pPr indent="0" marL="0">
              <a:buNone/>
            </a:pPr>
            <a:r>
              <a:rPr lang="en-US" sz="1300" dirty="0">
                <a:solidFill>
                  <a:schemeClr val="accent6"/>
                </a:solidFill>
              </a:rPr>
              <a:t>Chống SQL injection; giá tiền lấy từ CSDL, không tin giá trình duyệt gửi lên.</a:t>
            </a:r>
            <a:endParaRPr lang="en-US" sz="13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Kiểm thử và chất lượng</a:t>
            </a:r>
            <a:endParaRPr lang="en-US" sz="3000" dirty="0"/>
          </a:p>
        </p:txBody>
      </p:sp>
      <p:sp>
        <p:nvSpPr>
          <p:cNvPr id="3" name="qa-0"/>
          <p:cNvSpPr/>
          <p:nvPr/>
        </p:nvSpPr>
        <p:spPr>
          <a:xfrm>
            <a:off x="457200" y="1097280"/>
            <a:ext cx="1965960" cy="1508760"/>
          </a:xfrm>
          <a:prstGeom prst="roundRect">
            <a:avLst>
              <a:gd name="adj" fmla="val 7273"/>
            </a:avLst>
          </a:prstGeom>
          <a:solidFill>
            <a:schemeClr val="bg2"/>
          </a:solidFill>
          <a:ln/>
        </p:spPr>
      </p:sp>
      <p:sp>
        <p:nvSpPr>
          <p:cNvPr id="4" name="Text 2"/>
          <p:cNvSpPr txBox="1"/>
          <p:nvPr/>
        </p:nvSpPr>
        <p:spPr>
          <a:xfrm>
            <a:off x="594360" y="1234440"/>
            <a:ext cx="1737360" cy="54864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304</a:t>
            </a:r>
            <a:endParaRPr lang="en-US" sz="3000" dirty="0"/>
          </a:p>
        </p:txBody>
      </p:sp>
      <p:sp>
        <p:nvSpPr>
          <p:cNvPr id="5" name="Text 3"/>
          <p:cNvSpPr txBox="1"/>
          <p:nvPr/>
        </p:nvSpPr>
        <p:spPr>
          <a:xfrm>
            <a:off x="594360" y="1828800"/>
            <a:ext cx="1737360" cy="274320"/>
          </a:xfrm>
          <a:prstGeom prst="rect">
            <a:avLst/>
          </a:prstGeom>
          <a:noFill/>
          <a:ln/>
        </p:spPr>
        <p:txBody>
          <a:bodyPr wrap="square" lIns="0" tIns="0" rIns="0" bIns="0" rtlCol="0" anchor="t"/>
          <a:lstStyle/>
          <a:p>
            <a:pPr indent="0" marL="0">
              <a:buNone/>
            </a:pPr>
            <a:r>
              <a:rPr lang="en-US" sz="1400" b="1" dirty="0">
                <a:solidFill>
                  <a:schemeClr val="tx1"/>
                </a:solidFill>
              </a:rPr>
              <a:t>test tự động</a:t>
            </a:r>
            <a:endParaRPr lang="en-US" sz="1400" dirty="0"/>
          </a:p>
        </p:txBody>
      </p:sp>
      <p:sp>
        <p:nvSpPr>
          <p:cNvPr id="6" name="Text 4"/>
          <p:cNvSpPr txBox="1"/>
          <p:nvPr/>
        </p:nvSpPr>
        <p:spPr>
          <a:xfrm>
            <a:off x="594360" y="2121408"/>
            <a:ext cx="1737360" cy="411480"/>
          </a:xfrm>
          <a:prstGeom prst="rect">
            <a:avLst/>
          </a:prstGeom>
          <a:noFill/>
          <a:ln/>
        </p:spPr>
        <p:txBody>
          <a:bodyPr wrap="square" lIns="0" tIns="0" rIns="0" bIns="0" rtlCol="0" anchor="t"/>
          <a:lstStyle/>
          <a:p>
            <a:pPr indent="0" marL="0">
              <a:buNone/>
            </a:pPr>
            <a:r>
              <a:rPr lang="en-US" sz="1100" dirty="0">
                <a:solidFill>
                  <a:schemeClr val="accent6"/>
                </a:solidFill>
              </a:rPr>
              <a:t>unit, API, thủ tục SQL</a:t>
            </a:r>
            <a:endParaRPr lang="en-US" sz="1100" dirty="0"/>
          </a:p>
        </p:txBody>
      </p:sp>
      <p:sp>
        <p:nvSpPr>
          <p:cNvPr id="7" name="qa-1"/>
          <p:cNvSpPr/>
          <p:nvPr/>
        </p:nvSpPr>
        <p:spPr>
          <a:xfrm>
            <a:off x="2560320" y="1097280"/>
            <a:ext cx="1965960" cy="1508760"/>
          </a:xfrm>
          <a:prstGeom prst="roundRect">
            <a:avLst>
              <a:gd name="adj" fmla="val 7273"/>
            </a:avLst>
          </a:prstGeom>
          <a:solidFill>
            <a:schemeClr val="bg2"/>
          </a:solidFill>
          <a:ln/>
        </p:spPr>
      </p:sp>
      <p:sp>
        <p:nvSpPr>
          <p:cNvPr id="8" name="Text 6"/>
          <p:cNvSpPr txBox="1"/>
          <p:nvPr/>
        </p:nvSpPr>
        <p:spPr>
          <a:xfrm>
            <a:off x="2697480" y="1234440"/>
            <a:ext cx="1737360" cy="54864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45</a:t>
            </a:r>
            <a:endParaRPr lang="en-US" sz="3000" dirty="0"/>
          </a:p>
        </p:txBody>
      </p:sp>
      <p:sp>
        <p:nvSpPr>
          <p:cNvPr id="9" name="Text 7"/>
          <p:cNvSpPr txBox="1"/>
          <p:nvPr/>
        </p:nvSpPr>
        <p:spPr>
          <a:xfrm>
            <a:off x="2697480" y="1828800"/>
            <a:ext cx="1737360" cy="274320"/>
          </a:xfrm>
          <a:prstGeom prst="rect">
            <a:avLst/>
          </a:prstGeom>
          <a:noFill/>
          <a:ln/>
        </p:spPr>
        <p:txBody>
          <a:bodyPr wrap="square" lIns="0" tIns="0" rIns="0" bIns="0" rtlCol="0" anchor="t"/>
          <a:lstStyle/>
          <a:p>
            <a:pPr indent="0" marL="0">
              <a:buNone/>
            </a:pPr>
            <a:r>
              <a:rPr lang="en-US" sz="1400" b="1" dirty="0">
                <a:solidFill>
                  <a:schemeClr val="tx1"/>
                </a:solidFill>
              </a:rPr>
              <a:t>kịch bản E2E</a:t>
            </a:r>
            <a:endParaRPr lang="en-US" sz="1400" dirty="0"/>
          </a:p>
        </p:txBody>
      </p:sp>
      <p:sp>
        <p:nvSpPr>
          <p:cNvPr id="10" name="Text 8"/>
          <p:cNvSpPr txBox="1"/>
          <p:nvPr/>
        </p:nvSpPr>
        <p:spPr>
          <a:xfrm>
            <a:off x="2697480" y="2121408"/>
            <a:ext cx="1737360" cy="411480"/>
          </a:xfrm>
          <a:prstGeom prst="rect">
            <a:avLst/>
          </a:prstGeom>
          <a:noFill/>
          <a:ln/>
        </p:spPr>
        <p:txBody>
          <a:bodyPr wrap="square" lIns="0" tIns="0" rIns="0" bIns="0" rtlCol="0" anchor="t"/>
          <a:lstStyle/>
          <a:p>
            <a:pPr indent="0" marL="0">
              <a:buNone/>
            </a:pPr>
            <a:r>
              <a:rPr lang="en-US" sz="1100" dirty="0">
                <a:solidFill>
                  <a:schemeClr val="accent6"/>
                </a:solidFill>
              </a:rPr>
              <a:t>trình duyệt thật (Playwright)</a:t>
            </a:r>
            <a:endParaRPr lang="en-US" sz="1100" dirty="0"/>
          </a:p>
        </p:txBody>
      </p:sp>
      <p:sp>
        <p:nvSpPr>
          <p:cNvPr id="11" name="qa-2"/>
          <p:cNvSpPr/>
          <p:nvPr/>
        </p:nvSpPr>
        <p:spPr>
          <a:xfrm>
            <a:off x="457200" y="2788920"/>
            <a:ext cx="1965960" cy="1508760"/>
          </a:xfrm>
          <a:prstGeom prst="roundRect">
            <a:avLst>
              <a:gd name="adj" fmla="val 7273"/>
            </a:avLst>
          </a:prstGeom>
          <a:solidFill>
            <a:schemeClr val="bg2"/>
          </a:solidFill>
          <a:ln/>
        </p:spPr>
      </p:sp>
      <p:sp>
        <p:nvSpPr>
          <p:cNvPr id="12" name="Text 10"/>
          <p:cNvSpPr txBox="1"/>
          <p:nvPr/>
        </p:nvSpPr>
        <p:spPr>
          <a:xfrm>
            <a:off x="594360" y="2926080"/>
            <a:ext cx="1737360" cy="54864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10/10</a:t>
            </a:r>
            <a:endParaRPr lang="en-US" sz="3000" dirty="0"/>
          </a:p>
        </p:txBody>
      </p:sp>
      <p:sp>
        <p:nvSpPr>
          <p:cNvPr id="13" name="Text 11"/>
          <p:cNvSpPr txBox="1"/>
          <p:nvPr/>
        </p:nvSpPr>
        <p:spPr>
          <a:xfrm>
            <a:off x="594360" y="3520440"/>
            <a:ext cx="1737360" cy="274320"/>
          </a:xfrm>
          <a:prstGeom prst="rect">
            <a:avLst/>
          </a:prstGeom>
          <a:noFill/>
          <a:ln/>
        </p:spPr>
        <p:txBody>
          <a:bodyPr wrap="square" lIns="0" tIns="0" rIns="0" bIns="0" rtlCol="0" anchor="t"/>
          <a:lstStyle/>
          <a:p>
            <a:pPr indent="0" marL="0">
              <a:buNone/>
            </a:pPr>
            <a:r>
              <a:rPr lang="en-US" sz="1400" b="1" dirty="0">
                <a:solidFill>
                  <a:schemeClr val="tx1"/>
                </a:solidFill>
              </a:rPr>
              <a:t>vòng ép tải</a:t>
            </a:r>
            <a:endParaRPr lang="en-US" sz="1400" dirty="0"/>
          </a:p>
        </p:txBody>
      </p:sp>
      <p:sp>
        <p:nvSpPr>
          <p:cNvPr id="14" name="Text 12"/>
          <p:cNvSpPr txBox="1"/>
          <p:nvPr/>
        </p:nvSpPr>
        <p:spPr>
          <a:xfrm>
            <a:off x="594360" y="3813048"/>
            <a:ext cx="1737360" cy="411480"/>
          </a:xfrm>
          <a:prstGeom prst="rect">
            <a:avLst/>
          </a:prstGeom>
          <a:noFill/>
          <a:ln/>
        </p:spPr>
        <p:txBody>
          <a:bodyPr wrap="square" lIns="0" tIns="0" rIns="0" bIns="0" rtlCol="0" anchor="t"/>
          <a:lstStyle/>
          <a:p>
            <a:pPr indent="0" marL="0">
              <a:buNone/>
            </a:pPr>
            <a:r>
              <a:rPr lang="en-US" sz="1100" dirty="0">
                <a:solidFill>
                  <a:schemeClr val="accent6"/>
                </a:solidFill>
              </a:rPr>
              <a:t>không âm kho · p95 209 ms</a:t>
            </a:r>
            <a:endParaRPr lang="en-US" sz="1100" dirty="0"/>
          </a:p>
        </p:txBody>
      </p:sp>
      <p:sp>
        <p:nvSpPr>
          <p:cNvPr id="15" name="qa-3"/>
          <p:cNvSpPr/>
          <p:nvPr/>
        </p:nvSpPr>
        <p:spPr>
          <a:xfrm>
            <a:off x="2560320" y="2788920"/>
            <a:ext cx="1965960" cy="1508760"/>
          </a:xfrm>
          <a:prstGeom prst="roundRect">
            <a:avLst>
              <a:gd name="adj" fmla="val 7273"/>
            </a:avLst>
          </a:prstGeom>
          <a:solidFill>
            <a:schemeClr val="bg2"/>
          </a:solidFill>
          <a:ln/>
        </p:spPr>
      </p:sp>
      <p:sp>
        <p:nvSpPr>
          <p:cNvPr id="16" name="Text 14"/>
          <p:cNvSpPr txBox="1"/>
          <p:nvPr/>
        </p:nvSpPr>
        <p:spPr>
          <a:xfrm>
            <a:off x="2697480" y="2926080"/>
            <a:ext cx="1737360" cy="54864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335/335</a:t>
            </a:r>
            <a:endParaRPr lang="en-US" sz="3000" dirty="0"/>
          </a:p>
        </p:txBody>
      </p:sp>
      <p:sp>
        <p:nvSpPr>
          <p:cNvPr id="17" name="Text 15"/>
          <p:cNvSpPr txBox="1"/>
          <p:nvPr/>
        </p:nvSpPr>
        <p:spPr>
          <a:xfrm>
            <a:off x="2697480" y="3520440"/>
            <a:ext cx="1737360" cy="274320"/>
          </a:xfrm>
          <a:prstGeom prst="rect">
            <a:avLst/>
          </a:prstGeom>
          <a:noFill/>
          <a:ln/>
        </p:spPr>
        <p:txBody>
          <a:bodyPr wrap="square" lIns="0" tIns="0" rIns="0" bIns="0" rtlCol="0" anchor="t"/>
          <a:lstStyle/>
          <a:p>
            <a:pPr indent="0" marL="0">
              <a:buNone/>
            </a:pPr>
            <a:r>
              <a:rPr lang="en-US" sz="1400" b="1" dirty="0">
                <a:solidFill>
                  <a:schemeClr val="tx1"/>
                </a:solidFill>
              </a:rPr>
              <a:t>tiêu chí chấp nhận</a:t>
            </a:r>
            <a:endParaRPr lang="en-US" sz="1400" dirty="0"/>
          </a:p>
        </p:txBody>
      </p:sp>
      <p:sp>
        <p:nvSpPr>
          <p:cNvPr id="18" name="Text 16"/>
          <p:cNvSpPr txBox="1"/>
          <p:nvPr/>
        </p:nvSpPr>
        <p:spPr>
          <a:xfrm>
            <a:off x="2697480" y="3813048"/>
            <a:ext cx="1737360" cy="411480"/>
          </a:xfrm>
          <a:prstGeom prst="rect">
            <a:avLst/>
          </a:prstGeom>
          <a:noFill/>
          <a:ln/>
        </p:spPr>
        <p:txBody>
          <a:bodyPr wrap="square" lIns="0" tIns="0" rIns="0" bIns="0" rtlCol="0" anchor="t"/>
          <a:lstStyle/>
          <a:p>
            <a:pPr indent="0" marL="0">
              <a:buNone/>
            </a:pPr>
            <a:r>
              <a:rPr lang="en-US" sz="1100" dirty="0">
                <a:solidFill>
                  <a:schemeClr val="accent6"/>
                </a:solidFill>
              </a:rPr>
              <a:t>truy vết tới test, 0 thiếu</a:t>
            </a:r>
            <a:endParaRPr lang="en-US" sz="1100" dirty="0"/>
          </a:p>
        </p:txBody>
      </p:sp>
      <p:graphicFrame>
        <p:nvGraphicFramePr>
          <p:cNvPr id="19" name="chart-tests" descr=""/>
          <p:cNvGraphicFramePr/>
          <p:nvPr/>
        </p:nvGraphicFramePr>
        <p:xfrm>
          <a:off x="4846320" y="1051560"/>
          <a:ext cx="3840480" cy="34290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Quy trình làm việc với AI</a:t>
            </a:r>
            <a:endParaRPr lang="en-US" sz="3000" dirty="0"/>
          </a:p>
        </p:txBody>
      </p:sp>
      <p:sp>
        <p:nvSpPr>
          <p:cNvPr id="3" name="icon-bg-LuFileCode"/>
          <p:cNvSpPr/>
          <p:nvPr/>
        </p:nvSpPr>
        <p:spPr>
          <a:xfrm>
            <a:off x="822960" y="1097280"/>
            <a:ext cx="548640" cy="548640"/>
          </a:xfrm>
          <a:prstGeom prst="ellipse">
            <a:avLst/>
          </a:prstGeom>
          <a:solidFill>
            <a:schemeClr val="accent1"/>
          </a:solidFill>
          <a:ln/>
        </p:spPr>
      </p:sp>
      <p:pic>
        <p:nvPicPr>
          <p:cNvPr id="4" name="icon-LuFileCode" descr="preencoded.png">    </p:cNvPr>
          <p:cNvPicPr>
            <a:picLocks noChangeAspect="1"/>
          </p:cNvPicPr>
          <p:nvPr/>
        </p:nvPicPr>
        <p:blipFill>
          <a:blip r:embed="rId1"/>
          <a:stretch>
            <a:fillRect/>
          </a:stretch>
        </p:blipFill>
        <p:spPr>
          <a:xfrm>
            <a:off x="954634" y="1228954"/>
            <a:ext cx="285293" cy="285293"/>
          </a:xfrm>
          <a:prstGeom prst="rect">
            <a:avLst/>
          </a:prstGeom>
        </p:spPr>
      </p:pic>
      <p:sp>
        <p:nvSpPr>
          <p:cNvPr id="5" name="Text 2"/>
          <p:cNvSpPr txBox="1"/>
          <p:nvPr/>
        </p:nvSpPr>
        <p:spPr>
          <a:xfrm>
            <a:off x="457200" y="1737360"/>
            <a:ext cx="1280160" cy="320040"/>
          </a:xfrm>
          <a:prstGeom prst="rect">
            <a:avLst/>
          </a:prstGeom>
          <a:noFill/>
          <a:ln/>
        </p:spPr>
        <p:txBody>
          <a:bodyPr wrap="square" lIns="0" tIns="0" rIns="0" bIns="0" rtlCol="0" anchor="t"/>
          <a:lstStyle/>
          <a:p>
            <a:pPr algn="ctr" indent="0" marL="0">
              <a:buNone/>
            </a:pPr>
            <a:r>
              <a:rPr lang="en-US" sz="1300" b="1" dirty="0">
                <a:solidFill>
                  <a:schemeClr val="tx1"/>
                </a:solidFill>
              </a:rPr>
              <a:t>1. Đặc tả &amp; skill</a:t>
            </a:r>
            <a:endParaRPr lang="en-US" sz="1300" dirty="0"/>
          </a:p>
        </p:txBody>
      </p:sp>
      <p:sp>
        <p:nvSpPr>
          <p:cNvPr id="6" name="Text 3"/>
          <p:cNvSpPr txBox="1"/>
          <p:nvPr/>
        </p:nvSpPr>
        <p:spPr>
          <a:xfrm>
            <a:off x="457200" y="2048256"/>
            <a:ext cx="1280160" cy="274320"/>
          </a:xfrm>
          <a:prstGeom prst="rect">
            <a:avLst/>
          </a:prstGeom>
          <a:noFill/>
          <a:ln/>
        </p:spPr>
        <p:txBody>
          <a:bodyPr wrap="square" lIns="0" tIns="0" rIns="0" bIns="0" rtlCol="0" anchor="t"/>
          <a:lstStyle/>
          <a:p>
            <a:pPr algn="ctr" indent="0" marL="0">
              <a:buNone/>
            </a:pPr>
            <a:r>
              <a:rPr lang="en-US" sz="1100" dirty="0">
                <a:solidFill>
                  <a:schemeClr val="accent6"/>
                </a:solidFill>
              </a:rPr>
              <a:t>sinh viên viết trước</a:t>
            </a:r>
            <a:endParaRPr lang="en-US" sz="1100" dirty="0"/>
          </a:p>
        </p:txBody>
      </p:sp>
      <p:sp>
        <p:nvSpPr>
          <p:cNvPr id="7" name="flow-0"/>
          <p:cNvSpPr/>
          <p:nvPr/>
        </p:nvSpPr>
        <p:spPr>
          <a:xfrm>
            <a:off x="1481328" y="1371600"/>
            <a:ext cx="256032" cy="0"/>
          </a:xfrm>
          <a:prstGeom prst="line">
            <a:avLst/>
          </a:prstGeom>
          <a:noFill/>
          <a:ln w="19050">
            <a:solidFill>
              <a:srgbClr val="68533F"/>
            </a:solidFill>
            <a:prstDash val="solid"/>
            <a:tailEnd type="triangle"/>
          </a:ln>
        </p:spPr>
      </p:sp>
      <p:sp>
        <p:nvSpPr>
          <p:cNvPr id="8" name="icon-bg-LuMessageSquare"/>
          <p:cNvSpPr/>
          <p:nvPr/>
        </p:nvSpPr>
        <p:spPr>
          <a:xfrm>
            <a:off x="2212848" y="1097280"/>
            <a:ext cx="548640" cy="548640"/>
          </a:xfrm>
          <a:prstGeom prst="ellipse">
            <a:avLst/>
          </a:prstGeom>
          <a:solidFill>
            <a:schemeClr val="tx2"/>
          </a:solidFill>
          <a:ln/>
        </p:spPr>
      </p:sp>
      <p:pic>
        <p:nvPicPr>
          <p:cNvPr id="9" name="icon-LuMessageSquare" descr="preencoded.png">    </p:cNvPr>
          <p:cNvPicPr>
            <a:picLocks noChangeAspect="1"/>
          </p:cNvPicPr>
          <p:nvPr/>
        </p:nvPicPr>
        <p:blipFill>
          <a:blip r:embed="rId2"/>
          <a:stretch>
            <a:fillRect/>
          </a:stretch>
        </p:blipFill>
        <p:spPr>
          <a:xfrm>
            <a:off x="2344522" y="1228954"/>
            <a:ext cx="285293" cy="285293"/>
          </a:xfrm>
          <a:prstGeom prst="rect">
            <a:avLst/>
          </a:prstGeom>
        </p:spPr>
      </p:pic>
      <p:sp>
        <p:nvSpPr>
          <p:cNvPr id="10" name="Text 6"/>
          <p:cNvSpPr txBox="1"/>
          <p:nvPr/>
        </p:nvSpPr>
        <p:spPr>
          <a:xfrm>
            <a:off x="1847088" y="1737360"/>
            <a:ext cx="1280160" cy="320040"/>
          </a:xfrm>
          <a:prstGeom prst="rect">
            <a:avLst/>
          </a:prstGeom>
          <a:noFill/>
          <a:ln/>
        </p:spPr>
        <p:txBody>
          <a:bodyPr wrap="square" lIns="0" tIns="0" rIns="0" bIns="0" rtlCol="0" anchor="t"/>
          <a:lstStyle/>
          <a:p>
            <a:pPr algn="ctr" indent="0" marL="0">
              <a:buNone/>
            </a:pPr>
            <a:r>
              <a:rPr lang="en-US" sz="1300" b="1" dirty="0">
                <a:solidFill>
                  <a:schemeClr val="tx1"/>
                </a:solidFill>
              </a:rPr>
              <a:t>2. AI hỏi lại</a:t>
            </a:r>
            <a:endParaRPr lang="en-US" sz="1300" dirty="0"/>
          </a:p>
        </p:txBody>
      </p:sp>
      <p:sp>
        <p:nvSpPr>
          <p:cNvPr id="11" name="Text 7"/>
          <p:cNvSpPr txBox="1"/>
          <p:nvPr/>
        </p:nvSpPr>
        <p:spPr>
          <a:xfrm>
            <a:off x="1847088" y="2048256"/>
            <a:ext cx="1280160" cy="274320"/>
          </a:xfrm>
          <a:prstGeom prst="rect">
            <a:avLst/>
          </a:prstGeom>
          <a:noFill/>
          <a:ln/>
        </p:spPr>
        <p:txBody>
          <a:bodyPr wrap="square" lIns="0" tIns="0" rIns="0" bIns="0" rtlCol="0" anchor="t"/>
          <a:lstStyle/>
          <a:p>
            <a:pPr algn="ctr" indent="0" marL="0">
              <a:buNone/>
            </a:pPr>
            <a:r>
              <a:rPr lang="en-US" sz="1100" dirty="0">
                <a:solidFill>
                  <a:schemeClr val="accent6"/>
                </a:solidFill>
              </a:rPr>
              <a:t>câu trắc nghiệm</a:t>
            </a:r>
            <a:endParaRPr lang="en-US" sz="1100" dirty="0"/>
          </a:p>
        </p:txBody>
      </p:sp>
      <p:sp>
        <p:nvSpPr>
          <p:cNvPr id="12" name="flow-1"/>
          <p:cNvSpPr/>
          <p:nvPr/>
        </p:nvSpPr>
        <p:spPr>
          <a:xfrm>
            <a:off x="2871216" y="1371600"/>
            <a:ext cx="256032" cy="0"/>
          </a:xfrm>
          <a:prstGeom prst="line">
            <a:avLst/>
          </a:prstGeom>
          <a:noFill/>
          <a:ln w="19050">
            <a:solidFill>
              <a:srgbClr val="68533F"/>
            </a:solidFill>
            <a:prstDash val="solid"/>
            <a:tailEnd type="triangle"/>
          </a:ln>
        </p:spPr>
      </p:sp>
      <p:sp>
        <p:nvSpPr>
          <p:cNvPr id="13" name="icon-bg-LuListChecks"/>
          <p:cNvSpPr/>
          <p:nvPr/>
        </p:nvSpPr>
        <p:spPr>
          <a:xfrm>
            <a:off x="3602736" y="1097280"/>
            <a:ext cx="548640" cy="548640"/>
          </a:xfrm>
          <a:prstGeom prst="ellipse">
            <a:avLst/>
          </a:prstGeom>
          <a:solidFill>
            <a:schemeClr val="accent1"/>
          </a:solidFill>
          <a:ln/>
        </p:spPr>
      </p:sp>
      <p:pic>
        <p:nvPicPr>
          <p:cNvPr id="14" name="icon-LuListChecks" descr="preencoded.png">    </p:cNvPr>
          <p:cNvPicPr>
            <a:picLocks noChangeAspect="1"/>
          </p:cNvPicPr>
          <p:nvPr/>
        </p:nvPicPr>
        <p:blipFill>
          <a:blip r:embed="rId3"/>
          <a:stretch>
            <a:fillRect/>
          </a:stretch>
        </p:blipFill>
        <p:spPr>
          <a:xfrm>
            <a:off x="3734410" y="1228954"/>
            <a:ext cx="285293" cy="285293"/>
          </a:xfrm>
          <a:prstGeom prst="rect">
            <a:avLst/>
          </a:prstGeom>
        </p:spPr>
      </p:pic>
      <p:sp>
        <p:nvSpPr>
          <p:cNvPr id="15" name="Text 10"/>
          <p:cNvSpPr txBox="1"/>
          <p:nvPr/>
        </p:nvSpPr>
        <p:spPr>
          <a:xfrm>
            <a:off x="3236976" y="1737360"/>
            <a:ext cx="1280160" cy="320040"/>
          </a:xfrm>
          <a:prstGeom prst="rect">
            <a:avLst/>
          </a:prstGeom>
          <a:noFill/>
          <a:ln/>
        </p:spPr>
        <p:txBody>
          <a:bodyPr wrap="square" lIns="0" tIns="0" rIns="0" bIns="0" rtlCol="0" anchor="t"/>
          <a:lstStyle/>
          <a:p>
            <a:pPr algn="ctr" indent="0" marL="0">
              <a:buNone/>
            </a:pPr>
            <a:r>
              <a:rPr lang="en-US" sz="1300" b="1" dirty="0">
                <a:solidFill>
                  <a:schemeClr val="tx1"/>
                </a:solidFill>
              </a:rPr>
              <a:t>3. ADR · TASK</a:t>
            </a:r>
            <a:endParaRPr lang="en-US" sz="1300" dirty="0"/>
          </a:p>
        </p:txBody>
      </p:sp>
      <p:sp>
        <p:nvSpPr>
          <p:cNvPr id="16" name="Text 11"/>
          <p:cNvSpPr txBox="1"/>
          <p:nvPr/>
        </p:nvSpPr>
        <p:spPr>
          <a:xfrm>
            <a:off x="3236976" y="2048256"/>
            <a:ext cx="1280160" cy="274320"/>
          </a:xfrm>
          <a:prstGeom prst="rect">
            <a:avLst/>
          </a:prstGeom>
          <a:noFill/>
          <a:ln/>
        </p:spPr>
        <p:txBody>
          <a:bodyPr wrap="square" lIns="0" tIns="0" rIns="0" bIns="0" rtlCol="0" anchor="t"/>
          <a:lstStyle/>
          <a:p>
            <a:pPr algn="ctr" indent="0" marL="0">
              <a:buNone/>
            </a:pPr>
            <a:r>
              <a:rPr lang="en-US" sz="1100" dirty="0">
                <a:solidFill>
                  <a:schemeClr val="accent6"/>
                </a:solidFill>
              </a:rPr>
              <a:t>ghi quyết định</a:t>
            </a:r>
            <a:endParaRPr lang="en-US" sz="1100" dirty="0"/>
          </a:p>
        </p:txBody>
      </p:sp>
      <p:sp>
        <p:nvSpPr>
          <p:cNvPr id="17" name="flow-2"/>
          <p:cNvSpPr/>
          <p:nvPr/>
        </p:nvSpPr>
        <p:spPr>
          <a:xfrm>
            <a:off x="4261104" y="1371600"/>
            <a:ext cx="256032" cy="0"/>
          </a:xfrm>
          <a:prstGeom prst="line">
            <a:avLst/>
          </a:prstGeom>
          <a:noFill/>
          <a:ln w="19050">
            <a:solidFill>
              <a:srgbClr val="68533F"/>
            </a:solidFill>
            <a:prstDash val="solid"/>
            <a:tailEnd type="triangle"/>
          </a:ln>
        </p:spPr>
      </p:sp>
      <p:sp>
        <p:nvSpPr>
          <p:cNvPr id="18" name="icon-bg-LuWrench"/>
          <p:cNvSpPr/>
          <p:nvPr/>
        </p:nvSpPr>
        <p:spPr>
          <a:xfrm>
            <a:off x="4992624" y="1097280"/>
            <a:ext cx="548640" cy="548640"/>
          </a:xfrm>
          <a:prstGeom prst="ellipse">
            <a:avLst/>
          </a:prstGeom>
          <a:solidFill>
            <a:schemeClr val="tx2"/>
          </a:solidFill>
          <a:ln/>
        </p:spPr>
      </p:sp>
      <p:pic>
        <p:nvPicPr>
          <p:cNvPr id="19" name="icon-LuWrench" descr="preencoded.png">    </p:cNvPr>
          <p:cNvPicPr>
            <a:picLocks noChangeAspect="1"/>
          </p:cNvPicPr>
          <p:nvPr/>
        </p:nvPicPr>
        <p:blipFill>
          <a:blip r:embed="rId4"/>
          <a:stretch>
            <a:fillRect/>
          </a:stretch>
        </p:blipFill>
        <p:spPr>
          <a:xfrm>
            <a:off x="5124298" y="1228954"/>
            <a:ext cx="285293" cy="285293"/>
          </a:xfrm>
          <a:prstGeom prst="rect">
            <a:avLst/>
          </a:prstGeom>
        </p:spPr>
      </p:pic>
      <p:sp>
        <p:nvSpPr>
          <p:cNvPr id="20" name="Text 14"/>
          <p:cNvSpPr txBox="1"/>
          <p:nvPr/>
        </p:nvSpPr>
        <p:spPr>
          <a:xfrm>
            <a:off x="4626864" y="1737360"/>
            <a:ext cx="1280160" cy="320040"/>
          </a:xfrm>
          <a:prstGeom prst="rect">
            <a:avLst/>
          </a:prstGeom>
          <a:noFill/>
          <a:ln/>
        </p:spPr>
        <p:txBody>
          <a:bodyPr wrap="square" lIns="0" tIns="0" rIns="0" bIns="0" rtlCol="0" anchor="t"/>
          <a:lstStyle/>
          <a:p>
            <a:pPr algn="ctr" indent="0" marL="0">
              <a:buNone/>
            </a:pPr>
            <a:r>
              <a:rPr lang="en-US" sz="1300" b="1" dirty="0">
                <a:solidFill>
                  <a:schemeClr val="tx1"/>
                </a:solidFill>
              </a:rPr>
              <a:t>4. Code + test</a:t>
            </a:r>
            <a:endParaRPr lang="en-US" sz="1300" dirty="0"/>
          </a:p>
        </p:txBody>
      </p:sp>
      <p:sp>
        <p:nvSpPr>
          <p:cNvPr id="21" name="Text 15"/>
          <p:cNvSpPr txBox="1"/>
          <p:nvPr/>
        </p:nvSpPr>
        <p:spPr>
          <a:xfrm>
            <a:off x="4626864" y="2048256"/>
            <a:ext cx="1280160" cy="274320"/>
          </a:xfrm>
          <a:prstGeom prst="rect">
            <a:avLst/>
          </a:prstGeom>
          <a:noFill/>
          <a:ln/>
        </p:spPr>
        <p:txBody>
          <a:bodyPr wrap="square" lIns="0" tIns="0" rIns="0" bIns="0" rtlCol="0" anchor="t"/>
          <a:lstStyle/>
          <a:p>
            <a:pPr algn="ctr" indent="0" marL="0">
              <a:buNone/>
            </a:pPr>
            <a:r>
              <a:rPr lang="en-US" sz="1100" dirty="0">
                <a:solidFill>
                  <a:schemeClr val="accent6"/>
                </a:solidFill>
              </a:rPr>
              <a:t>unit, API, E2E</a:t>
            </a:r>
            <a:endParaRPr lang="en-US" sz="1100" dirty="0"/>
          </a:p>
        </p:txBody>
      </p:sp>
      <p:sp>
        <p:nvSpPr>
          <p:cNvPr id="22" name="flow-3"/>
          <p:cNvSpPr/>
          <p:nvPr/>
        </p:nvSpPr>
        <p:spPr>
          <a:xfrm>
            <a:off x="5650992" y="1371600"/>
            <a:ext cx="256032" cy="0"/>
          </a:xfrm>
          <a:prstGeom prst="line">
            <a:avLst/>
          </a:prstGeom>
          <a:noFill/>
          <a:ln w="19050">
            <a:solidFill>
              <a:srgbClr val="68533F"/>
            </a:solidFill>
            <a:prstDash val="solid"/>
            <a:tailEnd type="triangle"/>
          </a:ln>
        </p:spPr>
      </p:sp>
      <p:sp>
        <p:nvSpPr>
          <p:cNvPr id="23" name="icon-bg-LuSearch"/>
          <p:cNvSpPr/>
          <p:nvPr/>
        </p:nvSpPr>
        <p:spPr>
          <a:xfrm>
            <a:off x="6382512" y="1097280"/>
            <a:ext cx="548640" cy="548640"/>
          </a:xfrm>
          <a:prstGeom prst="ellipse">
            <a:avLst/>
          </a:prstGeom>
          <a:solidFill>
            <a:schemeClr val="accent1"/>
          </a:solidFill>
          <a:ln/>
        </p:spPr>
      </p:sp>
      <p:pic>
        <p:nvPicPr>
          <p:cNvPr id="24" name="icon-LuSearch" descr="preencoded.png">    </p:cNvPr>
          <p:cNvPicPr>
            <a:picLocks noChangeAspect="1"/>
          </p:cNvPicPr>
          <p:nvPr/>
        </p:nvPicPr>
        <p:blipFill>
          <a:blip r:embed="rId5"/>
          <a:stretch>
            <a:fillRect/>
          </a:stretch>
        </p:blipFill>
        <p:spPr>
          <a:xfrm>
            <a:off x="6514186" y="1228954"/>
            <a:ext cx="285293" cy="285293"/>
          </a:xfrm>
          <a:prstGeom prst="rect">
            <a:avLst/>
          </a:prstGeom>
        </p:spPr>
      </p:pic>
      <p:sp>
        <p:nvSpPr>
          <p:cNvPr id="25" name="Text 18"/>
          <p:cNvSpPr txBox="1"/>
          <p:nvPr/>
        </p:nvSpPr>
        <p:spPr>
          <a:xfrm>
            <a:off x="6016752" y="1737360"/>
            <a:ext cx="1280160" cy="320040"/>
          </a:xfrm>
          <a:prstGeom prst="rect">
            <a:avLst/>
          </a:prstGeom>
          <a:noFill/>
          <a:ln/>
        </p:spPr>
        <p:txBody>
          <a:bodyPr wrap="square" lIns="0" tIns="0" rIns="0" bIns="0" rtlCol="0" anchor="t"/>
          <a:lstStyle/>
          <a:p>
            <a:pPr algn="ctr" indent="0" marL="0">
              <a:buNone/>
            </a:pPr>
            <a:r>
              <a:rPr lang="en-US" sz="1300" b="1" dirty="0">
                <a:solidFill>
                  <a:schemeClr val="tx1"/>
                </a:solidFill>
              </a:rPr>
              <a:t>5. Review độc lập</a:t>
            </a:r>
            <a:endParaRPr lang="en-US" sz="1300" dirty="0"/>
          </a:p>
        </p:txBody>
      </p:sp>
      <p:sp>
        <p:nvSpPr>
          <p:cNvPr id="26" name="Text 19"/>
          <p:cNvSpPr txBox="1"/>
          <p:nvPr/>
        </p:nvSpPr>
        <p:spPr>
          <a:xfrm>
            <a:off x="6016752" y="2048256"/>
            <a:ext cx="1280160" cy="274320"/>
          </a:xfrm>
          <a:prstGeom prst="rect">
            <a:avLst/>
          </a:prstGeom>
          <a:noFill/>
          <a:ln/>
        </p:spPr>
        <p:txBody>
          <a:bodyPr wrap="square" lIns="0" tIns="0" rIns="0" bIns="0" rtlCol="0" anchor="t"/>
          <a:lstStyle/>
          <a:p>
            <a:pPr algn="ctr" indent="0" marL="0">
              <a:buNone/>
            </a:pPr>
            <a:r>
              <a:rPr lang="en-US" sz="1100" dirty="0">
                <a:solidFill>
                  <a:schemeClr val="accent6"/>
                </a:solidFill>
              </a:rPr>
              <a:t>phiên AI khác</a:t>
            </a:r>
            <a:endParaRPr lang="en-US" sz="1100" dirty="0"/>
          </a:p>
        </p:txBody>
      </p:sp>
      <p:sp>
        <p:nvSpPr>
          <p:cNvPr id="27" name="flow-4"/>
          <p:cNvSpPr/>
          <p:nvPr/>
        </p:nvSpPr>
        <p:spPr>
          <a:xfrm>
            <a:off x="7040880" y="1371600"/>
            <a:ext cx="256032" cy="0"/>
          </a:xfrm>
          <a:prstGeom prst="line">
            <a:avLst/>
          </a:prstGeom>
          <a:noFill/>
          <a:ln w="19050">
            <a:solidFill>
              <a:srgbClr val="68533F"/>
            </a:solidFill>
            <a:prstDash val="solid"/>
            <a:tailEnd type="triangle"/>
          </a:ln>
        </p:spPr>
      </p:sp>
      <p:sp>
        <p:nvSpPr>
          <p:cNvPr id="28" name="icon-bg-LuGitBranch"/>
          <p:cNvSpPr/>
          <p:nvPr/>
        </p:nvSpPr>
        <p:spPr>
          <a:xfrm>
            <a:off x="7772400" y="1097280"/>
            <a:ext cx="548640" cy="548640"/>
          </a:xfrm>
          <a:prstGeom prst="ellipse">
            <a:avLst/>
          </a:prstGeom>
          <a:solidFill>
            <a:schemeClr val="tx2"/>
          </a:solidFill>
          <a:ln/>
        </p:spPr>
      </p:sp>
      <p:pic>
        <p:nvPicPr>
          <p:cNvPr id="29" name="icon-LuGitBranch" descr="preencoded.png">    </p:cNvPr>
          <p:cNvPicPr>
            <a:picLocks noChangeAspect="1"/>
          </p:cNvPicPr>
          <p:nvPr/>
        </p:nvPicPr>
        <p:blipFill>
          <a:blip r:embed="rId6"/>
          <a:stretch>
            <a:fillRect/>
          </a:stretch>
        </p:blipFill>
        <p:spPr>
          <a:xfrm>
            <a:off x="7904074" y="1228954"/>
            <a:ext cx="285293" cy="285293"/>
          </a:xfrm>
          <a:prstGeom prst="rect">
            <a:avLst/>
          </a:prstGeom>
        </p:spPr>
      </p:pic>
      <p:sp>
        <p:nvSpPr>
          <p:cNvPr id="30" name="Text 22"/>
          <p:cNvSpPr txBox="1"/>
          <p:nvPr/>
        </p:nvSpPr>
        <p:spPr>
          <a:xfrm>
            <a:off x="7406640" y="1737360"/>
            <a:ext cx="1280160" cy="320040"/>
          </a:xfrm>
          <a:prstGeom prst="rect">
            <a:avLst/>
          </a:prstGeom>
          <a:noFill/>
          <a:ln/>
        </p:spPr>
        <p:txBody>
          <a:bodyPr wrap="square" lIns="0" tIns="0" rIns="0" bIns="0" rtlCol="0" anchor="t"/>
          <a:lstStyle/>
          <a:p>
            <a:pPr algn="ctr" indent="0" marL="0">
              <a:buNone/>
            </a:pPr>
            <a:r>
              <a:rPr lang="en-US" sz="1300" b="1" dirty="0">
                <a:solidFill>
                  <a:schemeClr val="tx1"/>
                </a:solidFill>
              </a:rPr>
              <a:t>6. Sửa &amp; gộp</a:t>
            </a:r>
            <a:endParaRPr lang="en-US" sz="1300" dirty="0"/>
          </a:p>
        </p:txBody>
      </p:sp>
      <p:sp>
        <p:nvSpPr>
          <p:cNvPr id="31" name="Text 23"/>
          <p:cNvSpPr txBox="1"/>
          <p:nvPr/>
        </p:nvSpPr>
        <p:spPr>
          <a:xfrm>
            <a:off x="7406640" y="2048256"/>
            <a:ext cx="1280160" cy="274320"/>
          </a:xfrm>
          <a:prstGeom prst="rect">
            <a:avLst/>
          </a:prstGeom>
          <a:noFill/>
          <a:ln/>
        </p:spPr>
        <p:txBody>
          <a:bodyPr wrap="square" lIns="0" tIns="0" rIns="0" bIns="0" rtlCol="0" anchor="t"/>
          <a:lstStyle/>
          <a:p>
            <a:pPr algn="ctr" indent="0" marL="0">
              <a:buNone/>
            </a:pPr>
            <a:r>
              <a:rPr lang="en-US" sz="1100" dirty="0">
                <a:solidFill>
                  <a:schemeClr val="accent6"/>
                </a:solidFill>
              </a:rPr>
              <a:t>khi sinh viên duyệt</a:t>
            </a:r>
            <a:endParaRPr lang="en-US" sz="1100" dirty="0"/>
          </a:p>
        </p:txBody>
      </p:sp>
      <p:sp>
        <p:nvSpPr>
          <p:cNvPr id="32" name="prompt-example"/>
          <p:cNvSpPr/>
          <p:nvPr/>
        </p:nvSpPr>
        <p:spPr>
          <a:xfrm>
            <a:off x="457200" y="2606040"/>
            <a:ext cx="8229600" cy="1965960"/>
          </a:xfrm>
          <a:prstGeom prst="roundRect">
            <a:avLst>
              <a:gd name="adj" fmla="val 5581"/>
            </a:avLst>
          </a:prstGeom>
          <a:solidFill>
            <a:schemeClr val="bg2"/>
          </a:solidFill>
          <a:ln/>
        </p:spPr>
      </p:sp>
      <p:sp>
        <p:nvSpPr>
          <p:cNvPr id="33" name="Text 25"/>
          <p:cNvSpPr txBox="1"/>
          <p:nvPr/>
        </p:nvSpPr>
        <p:spPr>
          <a:xfrm>
            <a:off x="640080" y="2724912"/>
            <a:ext cx="7863840" cy="292608"/>
          </a:xfrm>
          <a:prstGeom prst="rect">
            <a:avLst/>
          </a:prstGeom>
          <a:noFill/>
          <a:ln/>
        </p:spPr>
        <p:txBody>
          <a:bodyPr wrap="square" lIns="0" tIns="0" rIns="0" bIns="0" rtlCol="0" anchor="t"/>
          <a:lstStyle/>
          <a:p>
            <a:pPr indent="0" marL="0">
              <a:buNone/>
            </a:pPr>
            <a:r>
              <a:rPr lang="en-US" sz="1400" b="1" dirty="0">
                <a:solidFill>
                  <a:schemeClr val="tx2"/>
                </a:solidFill>
              </a:rPr>
              <a:t>Ví dụ một prompt (nguyên văn) và cách AI xử lý</a:t>
            </a:r>
            <a:endParaRPr lang="en-US" sz="1400" dirty="0"/>
          </a:p>
        </p:txBody>
      </p:sp>
      <p:sp>
        <p:nvSpPr>
          <p:cNvPr id="34" name="Text 26"/>
          <p:cNvSpPr txBox="1"/>
          <p:nvPr/>
        </p:nvSpPr>
        <p:spPr>
          <a:xfrm>
            <a:off x="640080" y="3063240"/>
            <a:ext cx="7863840" cy="457200"/>
          </a:xfrm>
          <a:prstGeom prst="rect">
            <a:avLst/>
          </a:prstGeom>
          <a:noFill/>
          <a:ln/>
        </p:spPr>
        <p:txBody>
          <a:bodyPr wrap="square" lIns="0" tIns="0" rIns="0" bIns="0" rtlCol="0" anchor="t"/>
          <a:lstStyle/>
          <a:p>
            <a:pPr indent="0" marL="0">
              <a:buNone/>
            </a:pPr>
            <a:r>
              <a:rPr lang="en-US" sz="1400" i="1" dirty="0">
                <a:solidFill>
                  <a:schemeClr val="tx1"/>
                </a:solidFill>
              </a:rPr>
              <a:t>“làm thêm chức năng khi chưa mở ca thì không thể oder bắt buộc phải mở ca để hoạt động các chức năng”</a:t>
            </a:r>
            <a:endParaRPr lang="en-US" sz="1400" dirty="0"/>
          </a:p>
        </p:txBody>
      </p:sp>
      <p:sp>
        <p:nvSpPr>
          <p:cNvPr id="35" name="Text 27"/>
          <p:cNvSpPr txBox="1"/>
          <p:nvPr/>
        </p:nvSpPr>
        <p:spPr>
          <a:xfrm>
            <a:off x="640080" y="3584448"/>
            <a:ext cx="7863840" cy="9144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AI hỏi 3 câu trước khi code → chọn: khách vẫn xem menu nhưng không gửi đơn; quầy khóa xử lý đơn.</a:t>
            </a:r>
            <a:endParaRPr lang="en-US" sz="1300" dirty="0"/>
          </a:p>
          <a:p>
            <a:pPr marL="342900" indent="-342900">
              <a:spcAft>
                <a:spcPts val="400"/>
              </a:spcAft>
              <a:buSzPct val="100000"/>
              <a:buChar char="•"/>
            </a:pPr>
            <a:r>
              <a:rPr lang="en-US" sz="1300" dirty="0">
                <a:solidFill>
                  <a:schemeClr val="tx1"/>
                </a:solidFill>
              </a:rPr>
              <a:t>Kết quả: server chặn (409 NO_OPEN_SHIFT) + giao diện khóa nút; 4 test mới, review độc lập tìm thêm 1 chỗ sót.</a:t>
            </a:r>
            <a:endParaRPr lang="en-US" sz="13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Đoạn code khó nhất do AI viết</a:t>
            </a:r>
            <a:endParaRPr lang="en-US" sz="3000" dirty="0"/>
          </a:p>
        </p:txBody>
      </p:sp>
      <p:sp>
        <p:nvSpPr>
          <p:cNvPr id="3" name="code-bg"/>
          <p:cNvSpPr/>
          <p:nvPr/>
        </p:nvSpPr>
        <p:spPr>
          <a:xfrm>
            <a:off x="457200" y="1051560"/>
            <a:ext cx="4572000" cy="3520440"/>
          </a:xfrm>
          <a:prstGeom prst="roundRect">
            <a:avLst>
              <a:gd name="adj" fmla="val 3117"/>
            </a:avLst>
          </a:prstGeom>
          <a:solidFill>
            <a:schemeClr val="tx1"/>
          </a:solidFill>
          <a:ln/>
        </p:spPr>
      </p:sp>
      <p:sp>
        <p:nvSpPr>
          <p:cNvPr id="4" name="Text 2"/>
          <p:cNvSpPr txBox="1"/>
          <p:nvPr/>
        </p:nvSpPr>
        <p:spPr>
          <a:xfrm>
            <a:off x="640080" y="1161288"/>
            <a:ext cx="4206240" cy="274320"/>
          </a:xfrm>
          <a:prstGeom prst="rect">
            <a:avLst/>
          </a:prstGeom>
          <a:noFill/>
          <a:ln/>
        </p:spPr>
        <p:txBody>
          <a:bodyPr wrap="square" lIns="0" tIns="0" rIns="0" bIns="0" rtlCol="0" anchor="t"/>
          <a:lstStyle/>
          <a:p>
            <a:pPr indent="0" marL="0">
              <a:buNone/>
            </a:pPr>
            <a:r>
              <a:rPr lang="en-US" sz="1200" b="1" dirty="0">
                <a:solidFill>
                  <a:schemeClr val="accent1"/>
                </a:solidFill>
              </a:rPr>
              <a:t>sp_SubmitOrder.sql — giữ kho khi gửi đơn</a:t>
            </a:r>
            <a:endParaRPr lang="en-US" sz="1200" dirty="0"/>
          </a:p>
        </p:txBody>
      </p:sp>
      <p:sp>
        <p:nvSpPr>
          <p:cNvPr id="5" name="Text 3"/>
          <p:cNvSpPr txBox="1"/>
          <p:nvPr/>
        </p:nvSpPr>
        <p:spPr>
          <a:xfrm>
            <a:off x="640080" y="1508760"/>
            <a:ext cx="4251960" cy="2971800"/>
          </a:xfrm>
          <a:prstGeom prst="rect">
            <a:avLst/>
          </a:prstGeom>
          <a:noFill/>
          <a:ln/>
        </p:spPr>
        <p:txBody>
          <a:bodyPr wrap="square" lIns="0" tIns="0" rIns="0" bIns="0" rtlCol="0" anchor="t"/>
          <a:lstStyle/>
          <a:p>
            <a:pPr indent="0" marL="0">
              <a:buNone/>
            </a:pPr>
            <a:r>
              <a:rPr lang="en-US" sz="1100" dirty="0">
                <a:solidFill>
                  <a:schemeClr val="bg2"/>
                </a:solidFill>
                <a:latin typeface="Courier New" pitchFamily="34" charset="0"/>
                <a:ea typeface="Courier New" pitchFamily="34" charset="-122"/>
                <a:cs typeface="Courier New" pitchFamily="34" charset="-120"/>
              </a:rPr>
              <a:t>UPDATE ing</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SET ReservedQty = ing.ReservedQty + n.Qty</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OUTPUT inserted.IngredientId INTO @Reserved</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FROM dbo.Ingredients ing WITH (UPDLOCK, HOLDLOCK)</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JOIN @Need n ON n.IngredientId = ing.IngredientId</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WHERE ing.StockQty - ing.ReservedQty</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 ISNULL(ex.ExpiredQty, 0) &gt;= n.Qty;</a:t>
            </a:r>
            <a:endParaRPr lang="en-US" sz="1100" dirty="0"/>
          </a:p>
          <a:p>
            <a:pPr indent="0" marL="0">
              <a:buNone/>
            </a:pP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IF (SELECT COUNT(*) FROM @Reserved) &lt;&gt; @NeedCount</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BEGIN</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ROLLBACK;</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THROW 50002, @Short, 1; -- OUT_OF_STOCK</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END</a:t>
            </a:r>
            <a:endParaRPr lang="en-US" sz="1100" dirty="0"/>
          </a:p>
        </p:txBody>
      </p:sp>
      <p:sp>
        <p:nvSpPr>
          <p:cNvPr id="6" name="Text 4"/>
          <p:cNvSpPr txBox="1"/>
          <p:nvPr/>
        </p:nvSpPr>
        <p:spPr>
          <a:xfrm>
            <a:off x="5303520" y="1051560"/>
            <a:ext cx="3383280" cy="274320"/>
          </a:xfrm>
          <a:prstGeom prst="rect">
            <a:avLst/>
          </a:prstGeom>
          <a:noFill/>
          <a:ln/>
        </p:spPr>
        <p:txBody>
          <a:bodyPr wrap="square" lIns="0" tIns="0" rIns="0" bIns="0" rtlCol="0" anchor="t"/>
          <a:lstStyle/>
          <a:p>
            <a:pPr indent="0" marL="0">
              <a:buNone/>
            </a:pPr>
            <a:r>
              <a:rPr lang="en-US" sz="1400" b="1" dirty="0">
                <a:solidFill>
                  <a:schemeClr val="tx2"/>
                </a:solidFill>
              </a:rPr>
              <a:t>Vấn đề</a:t>
            </a:r>
            <a:endParaRPr lang="en-US" sz="1400" dirty="0"/>
          </a:p>
        </p:txBody>
      </p:sp>
      <p:sp>
        <p:nvSpPr>
          <p:cNvPr id="7" name="Text 5"/>
          <p:cNvSpPr txBox="1"/>
          <p:nvPr/>
        </p:nvSpPr>
        <p:spPr>
          <a:xfrm>
            <a:off x="5303520" y="1344168"/>
            <a:ext cx="3383280" cy="594360"/>
          </a:xfrm>
          <a:prstGeom prst="rect">
            <a:avLst/>
          </a:prstGeom>
          <a:noFill/>
          <a:ln/>
        </p:spPr>
        <p:txBody>
          <a:bodyPr wrap="square" lIns="0" tIns="0" rIns="0" bIns="0" rtlCol="0" anchor="t"/>
          <a:lstStyle/>
          <a:p>
            <a:pPr indent="0" marL="0">
              <a:buNone/>
            </a:pPr>
            <a:r>
              <a:rPr lang="en-US" sz="1200" dirty="0">
                <a:solidFill>
                  <a:schemeClr val="tx1"/>
                </a:solidFill>
              </a:rPr>
              <a:t>Hai khách cùng gọi khi kho chỉ đủ một ly — "đọc rồi mới trừ" thì cả hai đều thấy còn hàng → âm kho.</a:t>
            </a:r>
            <a:endParaRPr lang="en-US" sz="1200" dirty="0"/>
          </a:p>
        </p:txBody>
      </p:sp>
      <p:sp>
        <p:nvSpPr>
          <p:cNvPr id="8" name="Text 6"/>
          <p:cNvSpPr txBox="1"/>
          <p:nvPr/>
        </p:nvSpPr>
        <p:spPr>
          <a:xfrm>
            <a:off x="5303520" y="1965960"/>
            <a:ext cx="3383280" cy="274320"/>
          </a:xfrm>
          <a:prstGeom prst="rect">
            <a:avLst/>
          </a:prstGeom>
          <a:noFill/>
          <a:ln/>
        </p:spPr>
        <p:txBody>
          <a:bodyPr wrap="square" lIns="0" tIns="0" rIns="0" bIns="0" rtlCol="0" anchor="t"/>
          <a:lstStyle/>
          <a:p>
            <a:pPr indent="0" marL="0">
              <a:buNone/>
            </a:pPr>
            <a:r>
              <a:rPr lang="en-US" sz="1400" b="1" dirty="0">
                <a:solidFill>
                  <a:schemeClr val="tx2"/>
                </a:solidFill>
              </a:rPr>
              <a:t>UPDLOCK, HOLDLOCK</a:t>
            </a:r>
            <a:endParaRPr lang="en-US" sz="1400" dirty="0"/>
          </a:p>
        </p:txBody>
      </p:sp>
      <p:sp>
        <p:nvSpPr>
          <p:cNvPr id="9" name="Text 7"/>
          <p:cNvSpPr txBox="1"/>
          <p:nvPr/>
        </p:nvSpPr>
        <p:spPr>
          <a:xfrm>
            <a:off x="5303520" y="2258568"/>
            <a:ext cx="3383280" cy="594360"/>
          </a:xfrm>
          <a:prstGeom prst="rect">
            <a:avLst/>
          </a:prstGeom>
          <a:noFill/>
          <a:ln/>
        </p:spPr>
        <p:txBody>
          <a:bodyPr wrap="square" lIns="0" tIns="0" rIns="0" bIns="0" rtlCol="0" anchor="t"/>
          <a:lstStyle/>
          <a:p>
            <a:pPr indent="0" marL="0">
              <a:buNone/>
            </a:pPr>
            <a:r>
              <a:rPr lang="en-US" sz="1200" dirty="0">
                <a:solidFill>
                  <a:schemeClr val="tx1"/>
                </a:solidFill>
              </a:rPr>
              <a:t>Khóa dòng nguyên liệu ngay lúc đọc; đơn thứ hai phải chờ.</a:t>
            </a:r>
            <a:endParaRPr lang="en-US" sz="1200" dirty="0"/>
          </a:p>
        </p:txBody>
      </p:sp>
      <p:sp>
        <p:nvSpPr>
          <p:cNvPr id="10" name="Text 8"/>
          <p:cNvSpPr txBox="1"/>
          <p:nvPr/>
        </p:nvSpPr>
        <p:spPr>
          <a:xfrm>
            <a:off x="5303520" y="2880360"/>
            <a:ext cx="3383280" cy="274320"/>
          </a:xfrm>
          <a:prstGeom prst="rect">
            <a:avLst/>
          </a:prstGeom>
          <a:noFill/>
          <a:ln/>
        </p:spPr>
        <p:txBody>
          <a:bodyPr wrap="square" lIns="0" tIns="0" rIns="0" bIns="0" rtlCol="0" anchor="t"/>
          <a:lstStyle/>
          <a:p>
            <a:pPr indent="0" marL="0">
              <a:buNone/>
            </a:pPr>
            <a:r>
              <a:rPr lang="en-US" sz="1400" b="1" dirty="0">
                <a:solidFill>
                  <a:schemeClr val="tx2"/>
                </a:solidFill>
              </a:rPr>
              <a:t>WHERE + OUTPUT</a:t>
            </a:r>
            <a:endParaRPr lang="en-US" sz="1400" dirty="0"/>
          </a:p>
        </p:txBody>
      </p:sp>
      <p:sp>
        <p:nvSpPr>
          <p:cNvPr id="11" name="Text 9"/>
          <p:cNvSpPr txBox="1"/>
          <p:nvPr/>
        </p:nvSpPr>
        <p:spPr>
          <a:xfrm>
            <a:off x="5303520" y="3172968"/>
            <a:ext cx="3383280" cy="594360"/>
          </a:xfrm>
          <a:prstGeom prst="rect">
            <a:avLst/>
          </a:prstGeom>
          <a:noFill/>
          <a:ln/>
        </p:spPr>
        <p:txBody>
          <a:bodyPr wrap="square" lIns="0" tIns="0" rIns="0" bIns="0" rtlCol="0" anchor="t"/>
          <a:lstStyle/>
          <a:p>
            <a:pPr indent="0" marL="0">
              <a:buNone/>
            </a:pPr>
            <a:r>
              <a:rPr lang="en-US" sz="1200" dirty="0">
                <a:solidFill>
                  <a:schemeClr val="tx1"/>
                </a:solidFill>
              </a:rPr>
              <a:t>Chỉ giữ khi còn đủ; đếm số nguyên liệu giữ được, thiếu thì hủy cả đơn.</a:t>
            </a:r>
            <a:endParaRPr lang="en-US" sz="1200" dirty="0"/>
          </a:p>
        </p:txBody>
      </p:sp>
      <p:sp>
        <p:nvSpPr>
          <p:cNvPr id="12" name="verify"/>
          <p:cNvSpPr/>
          <p:nvPr/>
        </p:nvSpPr>
        <p:spPr>
          <a:xfrm>
            <a:off x="5303520" y="3840480"/>
            <a:ext cx="3383280" cy="731520"/>
          </a:xfrm>
          <a:prstGeom prst="roundRect">
            <a:avLst>
              <a:gd name="adj" fmla="val 15000"/>
            </a:avLst>
          </a:prstGeom>
          <a:solidFill>
            <a:schemeClr val="accent2"/>
          </a:solidFill>
          <a:ln/>
        </p:spPr>
      </p:sp>
      <p:sp>
        <p:nvSpPr>
          <p:cNvPr id="13" name="Text 11"/>
          <p:cNvSpPr txBox="1"/>
          <p:nvPr/>
        </p:nvSpPr>
        <p:spPr>
          <a:xfrm>
            <a:off x="5440680" y="3913632"/>
            <a:ext cx="3154680" cy="594360"/>
          </a:xfrm>
          <a:prstGeom prst="rect">
            <a:avLst/>
          </a:prstGeom>
          <a:noFill/>
          <a:ln/>
        </p:spPr>
        <p:txBody>
          <a:bodyPr wrap="square" lIns="0" tIns="0" rIns="0" bIns="0" rtlCol="0" anchor="t"/>
          <a:lstStyle/>
          <a:p>
            <a:pPr indent="0" marL="0">
              <a:buNone/>
            </a:pPr>
            <a:r>
              <a:rPr lang="en-US" sz="1200" b="1" dirty="0">
                <a:solidFill>
                  <a:schemeClr val="bg1"/>
                </a:solidFill>
              </a:rPr>
              <a:t>Kiểm chứng: 20 phiên gửi đồng thời, kho đủ 1 suất → đúng 1 thành công; ép tải 10/10 vòng không âm kho</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AI đã sai ở đâu, sửa thế nào</a:t>
            </a:r>
            <a:endParaRPr lang="en-US" sz="3000" dirty="0"/>
          </a:p>
        </p:txBody>
      </p:sp>
      <p:sp>
        <p:nvSpPr>
          <p:cNvPr id="3" name="bug-0"/>
          <p:cNvSpPr/>
          <p:nvPr/>
        </p:nvSpPr>
        <p:spPr>
          <a:xfrm>
            <a:off x="457200" y="1051560"/>
            <a:ext cx="4023360" cy="1261872"/>
          </a:xfrm>
          <a:prstGeom prst="roundRect">
            <a:avLst>
              <a:gd name="adj" fmla="val 8696"/>
            </a:avLst>
          </a:prstGeom>
          <a:solidFill>
            <a:schemeClr val="bg2"/>
          </a:solidFill>
          <a:ln/>
        </p:spPr>
      </p:sp>
      <p:sp>
        <p:nvSpPr>
          <p:cNvPr id="4" name="bug-tag-0"/>
          <p:cNvSpPr/>
          <p:nvPr/>
        </p:nvSpPr>
        <p:spPr>
          <a:xfrm>
            <a:off x="621792" y="1197864"/>
            <a:ext cx="1234440" cy="274320"/>
          </a:xfrm>
          <a:prstGeom prst="roundRect">
            <a:avLst>
              <a:gd name="adj" fmla="val 50000"/>
            </a:avLst>
          </a:prstGeom>
          <a:solidFill>
            <a:schemeClr val="accent4"/>
          </a:solidFill>
          <a:ln/>
        </p:spPr>
      </p:sp>
      <p:sp>
        <p:nvSpPr>
          <p:cNvPr id="5" name="Text 3"/>
          <p:cNvSpPr txBox="1"/>
          <p:nvPr/>
        </p:nvSpPr>
        <p:spPr>
          <a:xfrm>
            <a:off x="621792" y="1197864"/>
            <a:ext cx="1234440" cy="274320"/>
          </a:xfrm>
          <a:prstGeom prst="rect">
            <a:avLst/>
          </a:prstGeom>
          <a:noFill/>
          <a:ln/>
        </p:spPr>
        <p:txBody>
          <a:bodyPr wrap="square" lIns="0" tIns="0" rIns="0" bIns="0" rtlCol="0" anchor="ctr"/>
          <a:lstStyle/>
          <a:p>
            <a:pPr algn="ctr" indent="0" marL="0">
              <a:buNone/>
            </a:pPr>
            <a:r>
              <a:rPr lang="en-US" sz="1100" b="1" dirty="0">
                <a:solidFill>
                  <a:schemeClr val="bg1"/>
                </a:solidFill>
              </a:rPr>
              <a:t>Nghiêm trọng</a:t>
            </a:r>
            <a:endParaRPr lang="en-US" sz="1100" dirty="0"/>
          </a:p>
        </p:txBody>
      </p:sp>
      <p:sp>
        <p:nvSpPr>
          <p:cNvPr id="6" name="Text 4"/>
          <p:cNvSpPr txBox="1"/>
          <p:nvPr/>
        </p:nvSpPr>
        <p:spPr>
          <a:xfrm>
            <a:off x="621792" y="1536192"/>
            <a:ext cx="3703320" cy="274320"/>
          </a:xfrm>
          <a:prstGeom prst="rect">
            <a:avLst/>
          </a:prstGeom>
          <a:noFill/>
          <a:ln/>
        </p:spPr>
        <p:txBody>
          <a:bodyPr wrap="square" lIns="0" tIns="0" rIns="0" bIns="0" rtlCol="0" anchor="t"/>
          <a:lstStyle/>
          <a:p>
            <a:pPr indent="0" marL="0">
              <a:buNone/>
            </a:pPr>
            <a:r>
              <a:rPr lang="en-US" sz="1400" b="1" dirty="0">
                <a:solidFill>
                  <a:schemeClr val="tx1"/>
                </a:solidFill>
              </a:rPr>
              <a:t>Hoàn tiền + hoàn kho cộng kho 2 lần</a:t>
            </a:r>
            <a:endParaRPr lang="en-US" sz="1400" dirty="0"/>
          </a:p>
        </p:txBody>
      </p:sp>
      <p:sp>
        <p:nvSpPr>
          <p:cNvPr id="7" name="Text 5"/>
          <p:cNvSpPr txBox="1"/>
          <p:nvPr/>
        </p:nvSpPr>
        <p:spPr>
          <a:xfrm>
            <a:off x="621792" y="1828800"/>
            <a:ext cx="3703320" cy="457200"/>
          </a:xfrm>
          <a:prstGeom prst="rect">
            <a:avLst/>
          </a:prstGeom>
          <a:noFill/>
          <a:ln/>
        </p:spPr>
        <p:txBody>
          <a:bodyPr wrap="square" lIns="0" tIns="0" rIns="0" bIns="0" rtlCol="0" anchor="t"/>
          <a:lstStyle/>
          <a:p>
            <a:pPr indent="0" marL="0">
              <a:buNone/>
            </a:pPr>
            <a:r>
              <a:rPr lang="en-US" sz="1200" dirty="0">
                <a:solidFill>
                  <a:schemeClr val="accent6"/>
                </a:solidFill>
              </a:rPr>
              <a:t>Phát hiện bằng review thủ tục SQL → sp_RefundPayment trừ cả phần đã ghi hủy.</a:t>
            </a:r>
            <a:endParaRPr lang="en-US" sz="1200" dirty="0"/>
          </a:p>
        </p:txBody>
      </p:sp>
      <p:sp>
        <p:nvSpPr>
          <p:cNvPr id="8" name="bug-1"/>
          <p:cNvSpPr/>
          <p:nvPr/>
        </p:nvSpPr>
        <p:spPr>
          <a:xfrm>
            <a:off x="4663440" y="1051560"/>
            <a:ext cx="4023360" cy="1261872"/>
          </a:xfrm>
          <a:prstGeom prst="roundRect">
            <a:avLst>
              <a:gd name="adj" fmla="val 8696"/>
            </a:avLst>
          </a:prstGeom>
          <a:solidFill>
            <a:schemeClr val="bg2"/>
          </a:solidFill>
          <a:ln/>
        </p:spPr>
      </p:sp>
      <p:sp>
        <p:nvSpPr>
          <p:cNvPr id="9" name="bug-tag-1"/>
          <p:cNvSpPr/>
          <p:nvPr/>
        </p:nvSpPr>
        <p:spPr>
          <a:xfrm>
            <a:off x="4828032" y="1197864"/>
            <a:ext cx="1234440" cy="274320"/>
          </a:xfrm>
          <a:prstGeom prst="roundRect">
            <a:avLst>
              <a:gd name="adj" fmla="val 50000"/>
            </a:avLst>
          </a:prstGeom>
          <a:solidFill>
            <a:schemeClr val="accent5"/>
          </a:solidFill>
          <a:ln/>
        </p:spPr>
      </p:sp>
      <p:sp>
        <p:nvSpPr>
          <p:cNvPr id="10" name="Text 8"/>
          <p:cNvSpPr txBox="1"/>
          <p:nvPr/>
        </p:nvSpPr>
        <p:spPr>
          <a:xfrm>
            <a:off x="4828032" y="1197864"/>
            <a:ext cx="1234440" cy="274320"/>
          </a:xfrm>
          <a:prstGeom prst="rect">
            <a:avLst/>
          </a:prstGeom>
          <a:noFill/>
          <a:ln/>
        </p:spPr>
        <p:txBody>
          <a:bodyPr wrap="square" lIns="0" tIns="0" rIns="0" bIns="0" rtlCol="0" anchor="ctr"/>
          <a:lstStyle/>
          <a:p>
            <a:pPr algn="ctr" indent="0" marL="0">
              <a:buNone/>
            </a:pPr>
            <a:r>
              <a:rPr lang="en-US" sz="1100" b="1" dirty="0">
                <a:solidFill>
                  <a:schemeClr val="bg1"/>
                </a:solidFill>
              </a:rPr>
              <a:t>Cao</a:t>
            </a:r>
            <a:endParaRPr lang="en-US" sz="1100" dirty="0"/>
          </a:p>
        </p:txBody>
      </p:sp>
      <p:sp>
        <p:nvSpPr>
          <p:cNvPr id="11" name="Text 9"/>
          <p:cNvSpPr txBox="1"/>
          <p:nvPr/>
        </p:nvSpPr>
        <p:spPr>
          <a:xfrm>
            <a:off x="4828032" y="1536192"/>
            <a:ext cx="3703320" cy="274320"/>
          </a:xfrm>
          <a:prstGeom prst="rect">
            <a:avLst/>
          </a:prstGeom>
          <a:noFill/>
          <a:ln/>
        </p:spPr>
        <p:txBody>
          <a:bodyPr wrap="square" lIns="0" tIns="0" rIns="0" bIns="0" rtlCol="0" anchor="t"/>
          <a:lstStyle/>
          <a:p>
            <a:pPr indent="0" marL="0">
              <a:buNone/>
            </a:pPr>
            <a:r>
              <a:rPr lang="en-US" sz="1400" b="1" dirty="0">
                <a:solidFill>
                  <a:schemeClr val="tx1"/>
                </a:solidFill>
              </a:rPr>
              <a:t>Bàn chia bill bị kẹt mở</a:t>
            </a:r>
            <a:endParaRPr lang="en-US" sz="1400" dirty="0"/>
          </a:p>
        </p:txBody>
      </p:sp>
      <p:sp>
        <p:nvSpPr>
          <p:cNvPr id="12" name="Text 10"/>
          <p:cNvSpPr txBox="1"/>
          <p:nvPr/>
        </p:nvSpPr>
        <p:spPr>
          <a:xfrm>
            <a:off x="4828032" y="1828800"/>
            <a:ext cx="3703320" cy="457200"/>
          </a:xfrm>
          <a:prstGeom prst="rect">
            <a:avLst/>
          </a:prstGeom>
          <a:noFill/>
          <a:ln/>
        </p:spPr>
        <p:txBody>
          <a:bodyPr wrap="square" lIns="0" tIns="0" rIns="0" bIns="0" rtlCol="0" anchor="t"/>
          <a:lstStyle/>
          <a:p>
            <a:pPr indent="0" marL="0">
              <a:buNone/>
            </a:pPr>
            <a:r>
              <a:rPr lang="en-US" sz="1200" dirty="0">
                <a:solidFill>
                  <a:schemeClr val="accent6"/>
                </a:solidFill>
              </a:rPr>
              <a:t>Xóa nốt món chưa thu nhưng phiên không đóng → thêm sp_CloseIfSettled.</a:t>
            </a:r>
            <a:endParaRPr lang="en-US" sz="1200" dirty="0"/>
          </a:p>
        </p:txBody>
      </p:sp>
      <p:sp>
        <p:nvSpPr>
          <p:cNvPr id="13" name="bug-2"/>
          <p:cNvSpPr/>
          <p:nvPr/>
        </p:nvSpPr>
        <p:spPr>
          <a:xfrm>
            <a:off x="457200" y="2468880"/>
            <a:ext cx="4023360" cy="1261872"/>
          </a:xfrm>
          <a:prstGeom prst="roundRect">
            <a:avLst>
              <a:gd name="adj" fmla="val 8696"/>
            </a:avLst>
          </a:prstGeom>
          <a:solidFill>
            <a:schemeClr val="bg2"/>
          </a:solidFill>
          <a:ln/>
        </p:spPr>
      </p:sp>
      <p:sp>
        <p:nvSpPr>
          <p:cNvPr id="14" name="bug-tag-2"/>
          <p:cNvSpPr/>
          <p:nvPr/>
        </p:nvSpPr>
        <p:spPr>
          <a:xfrm>
            <a:off x="621792" y="2615184"/>
            <a:ext cx="1234440" cy="274320"/>
          </a:xfrm>
          <a:prstGeom prst="roundRect">
            <a:avLst>
              <a:gd name="adj" fmla="val 50000"/>
            </a:avLst>
          </a:prstGeom>
          <a:solidFill>
            <a:schemeClr val="accent3"/>
          </a:solidFill>
          <a:ln/>
        </p:spPr>
      </p:sp>
      <p:sp>
        <p:nvSpPr>
          <p:cNvPr id="15" name="Text 13"/>
          <p:cNvSpPr txBox="1"/>
          <p:nvPr/>
        </p:nvSpPr>
        <p:spPr>
          <a:xfrm>
            <a:off x="621792" y="2615184"/>
            <a:ext cx="1234440" cy="274320"/>
          </a:xfrm>
          <a:prstGeom prst="rect">
            <a:avLst/>
          </a:prstGeom>
          <a:noFill/>
          <a:ln/>
        </p:spPr>
        <p:txBody>
          <a:bodyPr wrap="square" lIns="0" tIns="0" rIns="0" bIns="0" rtlCol="0" anchor="ctr"/>
          <a:lstStyle/>
          <a:p>
            <a:pPr algn="ctr" indent="0" marL="0">
              <a:buNone/>
            </a:pPr>
            <a:r>
              <a:rPr lang="en-US" sz="1100" b="1" dirty="0">
                <a:solidFill>
                  <a:schemeClr val="bg1"/>
                </a:solidFill>
              </a:rPr>
              <a:t>Báo cáo sai</a:t>
            </a:r>
            <a:endParaRPr lang="en-US" sz="1100" dirty="0"/>
          </a:p>
        </p:txBody>
      </p:sp>
      <p:sp>
        <p:nvSpPr>
          <p:cNvPr id="16" name="Text 14"/>
          <p:cNvSpPr txBox="1"/>
          <p:nvPr/>
        </p:nvSpPr>
        <p:spPr>
          <a:xfrm>
            <a:off x="621792" y="2953512"/>
            <a:ext cx="3703320" cy="274320"/>
          </a:xfrm>
          <a:prstGeom prst="rect">
            <a:avLst/>
          </a:prstGeom>
          <a:noFill/>
          <a:ln/>
        </p:spPr>
        <p:txBody>
          <a:bodyPr wrap="square" lIns="0" tIns="0" rIns="0" bIns="0" rtlCol="0" anchor="t"/>
          <a:lstStyle/>
          <a:p>
            <a:pPr indent="0" marL="0">
              <a:buNone/>
            </a:pPr>
            <a:r>
              <a:rPr lang="en-US" sz="1400" b="1" dirty="0">
                <a:solidFill>
                  <a:schemeClr val="tx1"/>
                </a:solidFill>
              </a:rPr>
              <a:t>AI ghi "4 test đều đỏ trên code cũ"</a:t>
            </a:r>
            <a:endParaRPr lang="en-US" sz="1400" dirty="0"/>
          </a:p>
        </p:txBody>
      </p:sp>
      <p:sp>
        <p:nvSpPr>
          <p:cNvPr id="17" name="Text 15"/>
          <p:cNvSpPr txBox="1"/>
          <p:nvPr/>
        </p:nvSpPr>
        <p:spPr>
          <a:xfrm>
            <a:off x="621792" y="3246120"/>
            <a:ext cx="3703320" cy="457200"/>
          </a:xfrm>
          <a:prstGeom prst="rect">
            <a:avLst/>
          </a:prstGeom>
          <a:noFill/>
          <a:ln/>
        </p:spPr>
        <p:txBody>
          <a:bodyPr wrap="square" lIns="0" tIns="0" rIns="0" bIns="0" rtlCol="0" anchor="t"/>
          <a:lstStyle/>
          <a:p>
            <a:pPr indent="0" marL="0">
              <a:buNone/>
            </a:pPr>
            <a:r>
              <a:rPr lang="en-US" sz="1200" dirty="0">
                <a:solidFill>
                  <a:schemeClr val="accent6"/>
                </a:solidFill>
              </a:rPr>
              <a:t>Chạy lại đúng cách: 3 đỏ, 1 xanh → sửa báo cáo, luôn dán kết quả thật.</a:t>
            </a:r>
            <a:endParaRPr lang="en-US" sz="1200" dirty="0"/>
          </a:p>
        </p:txBody>
      </p:sp>
      <p:sp>
        <p:nvSpPr>
          <p:cNvPr id="18" name="bug-3"/>
          <p:cNvSpPr/>
          <p:nvPr/>
        </p:nvSpPr>
        <p:spPr>
          <a:xfrm>
            <a:off x="4663440" y="2468880"/>
            <a:ext cx="4023360" cy="1261872"/>
          </a:xfrm>
          <a:prstGeom prst="roundRect">
            <a:avLst>
              <a:gd name="adj" fmla="val 8696"/>
            </a:avLst>
          </a:prstGeom>
          <a:solidFill>
            <a:schemeClr val="bg2"/>
          </a:solidFill>
          <a:ln/>
        </p:spPr>
      </p:sp>
      <p:sp>
        <p:nvSpPr>
          <p:cNvPr id="19" name="bug-tag-3"/>
          <p:cNvSpPr/>
          <p:nvPr/>
        </p:nvSpPr>
        <p:spPr>
          <a:xfrm>
            <a:off x="4828032" y="2615184"/>
            <a:ext cx="1234440" cy="274320"/>
          </a:xfrm>
          <a:prstGeom prst="roundRect">
            <a:avLst>
              <a:gd name="adj" fmla="val 50000"/>
            </a:avLst>
          </a:prstGeom>
          <a:solidFill>
            <a:schemeClr val="accent2"/>
          </a:solidFill>
          <a:ln/>
        </p:spPr>
      </p:sp>
      <p:sp>
        <p:nvSpPr>
          <p:cNvPr id="20" name="Text 18"/>
          <p:cNvSpPr txBox="1"/>
          <p:nvPr/>
        </p:nvSpPr>
        <p:spPr>
          <a:xfrm>
            <a:off x="4828032" y="2615184"/>
            <a:ext cx="1234440" cy="274320"/>
          </a:xfrm>
          <a:prstGeom prst="rect">
            <a:avLst/>
          </a:prstGeom>
          <a:noFill/>
          <a:ln/>
        </p:spPr>
        <p:txBody>
          <a:bodyPr wrap="square" lIns="0" tIns="0" rIns="0" bIns="0" rtlCol="0" anchor="ctr"/>
          <a:lstStyle/>
          <a:p>
            <a:pPr algn="ctr" indent="0" marL="0">
              <a:buNone/>
            </a:pPr>
            <a:r>
              <a:rPr lang="en-US" sz="1100" b="1" dirty="0">
                <a:solidFill>
                  <a:schemeClr val="bg1"/>
                </a:solidFill>
              </a:rPr>
              <a:t>Giao diện</a:t>
            </a:r>
            <a:endParaRPr lang="en-US" sz="1100" dirty="0"/>
          </a:p>
        </p:txBody>
      </p:sp>
      <p:sp>
        <p:nvSpPr>
          <p:cNvPr id="21" name="Text 19"/>
          <p:cNvSpPr txBox="1"/>
          <p:nvPr/>
        </p:nvSpPr>
        <p:spPr>
          <a:xfrm>
            <a:off x="4828032" y="2953512"/>
            <a:ext cx="3703320" cy="274320"/>
          </a:xfrm>
          <a:prstGeom prst="rect">
            <a:avLst/>
          </a:prstGeom>
          <a:noFill/>
          <a:ln/>
        </p:spPr>
        <p:txBody>
          <a:bodyPr wrap="square" lIns="0" tIns="0" rIns="0" bIns="0" rtlCol="0" anchor="t"/>
          <a:lstStyle/>
          <a:p>
            <a:pPr indent="0" marL="0">
              <a:buNone/>
            </a:pPr>
            <a:r>
              <a:rPr lang="en-US" sz="1400" b="1" dirty="0">
                <a:solidFill>
                  <a:schemeClr val="tx1"/>
                </a:solidFill>
              </a:rPr>
              <a:t>"Mất kết nối" đỏ khi chuyển trang</a:t>
            </a:r>
            <a:endParaRPr lang="en-US" sz="1400" dirty="0"/>
          </a:p>
        </p:txBody>
      </p:sp>
      <p:sp>
        <p:nvSpPr>
          <p:cNvPr id="22" name="Text 20"/>
          <p:cNvSpPr txBox="1"/>
          <p:nvPr/>
        </p:nvSpPr>
        <p:spPr>
          <a:xfrm>
            <a:off x="4828032" y="3246120"/>
            <a:ext cx="3703320" cy="457200"/>
          </a:xfrm>
          <a:prstGeom prst="rect">
            <a:avLst/>
          </a:prstGeom>
          <a:noFill/>
          <a:ln/>
        </p:spPr>
        <p:txBody>
          <a:bodyPr wrap="square" lIns="0" tIns="0" rIns="0" bIns="0" rtlCol="0" anchor="t"/>
          <a:lstStyle/>
          <a:p>
            <a:pPr indent="0" marL="0">
              <a:buNone/>
            </a:pPr>
            <a:r>
              <a:rPr lang="en-US" sz="1200" dirty="0">
                <a:solidFill>
                  <a:schemeClr val="accent6"/>
                </a:solidFill>
              </a:rPr>
              <a:t>Đóng kết nối có chủ ý bị hiểu là mất mạng → bỏ qua lý do đóng chủ động.</a:t>
            </a:r>
            <a:endParaRPr lang="en-US" sz="1200" dirty="0"/>
          </a:p>
        </p:txBody>
      </p:sp>
      <p:sp>
        <p:nvSpPr>
          <p:cNvPr id="23" name="icon-bg-LuBug"/>
          <p:cNvSpPr/>
          <p:nvPr/>
        </p:nvSpPr>
        <p:spPr>
          <a:xfrm>
            <a:off x="457200" y="3977640"/>
            <a:ext cx="457200" cy="457200"/>
          </a:xfrm>
          <a:prstGeom prst="ellipse">
            <a:avLst/>
          </a:prstGeom>
          <a:solidFill>
            <a:schemeClr val="tx2"/>
          </a:solidFill>
          <a:ln/>
        </p:spPr>
      </p:sp>
      <p:pic>
        <p:nvPicPr>
          <p:cNvPr id="24" name="icon-LuBug" descr="preencoded.png">    </p:cNvPr>
          <p:cNvPicPr>
            <a:picLocks noChangeAspect="1"/>
          </p:cNvPicPr>
          <p:nvPr/>
        </p:nvPicPr>
        <p:blipFill>
          <a:blip r:embed="rId1"/>
          <a:stretch>
            <a:fillRect/>
          </a:stretch>
        </p:blipFill>
        <p:spPr>
          <a:xfrm>
            <a:off x="566928" y="4087368"/>
            <a:ext cx="237744" cy="237744"/>
          </a:xfrm>
          <a:prstGeom prst="rect">
            <a:avLst/>
          </a:prstGeom>
        </p:spPr>
      </p:pic>
      <p:sp>
        <p:nvSpPr>
          <p:cNvPr id="25" name="Text 22"/>
          <p:cNvSpPr txBox="1"/>
          <p:nvPr/>
        </p:nvSpPr>
        <p:spPr>
          <a:xfrm>
            <a:off x="1051560" y="4005072"/>
            <a:ext cx="7635240" cy="457200"/>
          </a:xfrm>
          <a:prstGeom prst="rect">
            <a:avLst/>
          </a:prstGeom>
          <a:noFill/>
          <a:ln/>
        </p:spPr>
        <p:txBody>
          <a:bodyPr wrap="square" lIns="0" tIns="0" rIns="0" bIns="0" rtlCol="0" anchor="t"/>
          <a:lstStyle/>
          <a:p>
            <a:pPr indent="0" marL="0">
              <a:buNone/>
            </a:pPr>
            <a:r>
              <a:rPr lang="en-US" sz="1300" b="1" dirty="0">
                <a:solidFill>
                  <a:schemeClr val="tx2"/>
                </a:solidFill>
              </a:rPr>
              <a:t>Cách bắt lỗi AI: review bằng phiên AI khác · test mới phải đỏ trên code cũ · không tin "PASS" nếu không có kết quả chạy</a:t>
            </a:r>
            <a:endParaRPr lang="en-US" sz="13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indent="0" marL="0">
              <a:buNone/>
            </a:pPr>
            <a:r>
              <a:rPr lang="en-US" sz="3400" b="1" dirty="0">
                <a:solidFill>
                  <a:schemeClr val="bg1"/>
                </a:solidFill>
              </a:rPr>
              <a:t>Kết quả &amp; hướng phát triển</a:t>
            </a:r>
            <a:endParaRPr lang="en-US" sz="3400" dirty="0"/>
          </a:p>
        </p:txBody>
      </p:sp>
      <p:sp>
        <p:nvSpPr>
          <p:cNvPr id="3" name="done"/>
          <p:cNvSpPr/>
          <p:nvPr/>
        </p:nvSpPr>
        <p:spPr>
          <a:xfrm>
            <a:off x="548640" y="1371600"/>
            <a:ext cx="3840480" cy="2514600"/>
          </a:xfrm>
          <a:prstGeom prst="roundRect">
            <a:avLst>
              <a:gd name="adj" fmla="val 4364"/>
            </a:avLst>
          </a:prstGeom>
          <a:solidFill>
            <a:srgbClr val="33231A"/>
          </a:solidFill>
          <a:ln/>
        </p:spPr>
      </p:sp>
      <p:sp>
        <p:nvSpPr>
          <p:cNvPr id="4" name="icon-bg-LuCircleCheck"/>
          <p:cNvSpPr/>
          <p:nvPr/>
        </p:nvSpPr>
        <p:spPr>
          <a:xfrm>
            <a:off x="731520" y="1536192"/>
            <a:ext cx="457200" cy="457200"/>
          </a:xfrm>
          <a:prstGeom prst="ellipse">
            <a:avLst/>
          </a:prstGeom>
          <a:solidFill>
            <a:schemeClr val="accent2"/>
          </a:solidFill>
          <a:ln/>
        </p:spPr>
      </p:sp>
      <p:pic>
        <p:nvPicPr>
          <p:cNvPr id="5" name="icon-LuCircleCheck" descr="preencoded.png">    </p:cNvPr>
          <p:cNvPicPr>
            <a:picLocks noChangeAspect="1"/>
          </p:cNvPicPr>
          <p:nvPr/>
        </p:nvPicPr>
        <p:blipFill>
          <a:blip r:embed="rId1"/>
          <a:stretch>
            <a:fillRect/>
          </a:stretch>
        </p:blipFill>
        <p:spPr>
          <a:xfrm>
            <a:off x="841248" y="1645920"/>
            <a:ext cx="237744" cy="237744"/>
          </a:xfrm>
          <a:prstGeom prst="rect">
            <a:avLst/>
          </a:prstGeom>
        </p:spPr>
      </p:pic>
      <p:sp>
        <p:nvSpPr>
          <p:cNvPr id="6" name="Text 3"/>
          <p:cNvSpPr txBox="1"/>
          <p:nvPr/>
        </p:nvSpPr>
        <p:spPr>
          <a:xfrm>
            <a:off x="1325880" y="1600200"/>
            <a:ext cx="2926080" cy="365760"/>
          </a:xfrm>
          <a:prstGeom prst="rect">
            <a:avLst/>
          </a:prstGeom>
          <a:noFill/>
          <a:ln/>
        </p:spPr>
        <p:txBody>
          <a:bodyPr wrap="square" lIns="0" tIns="0" rIns="0" bIns="0" rtlCol="0" anchor="t"/>
          <a:lstStyle/>
          <a:p>
            <a:pPr indent="0" marL="0">
              <a:buNone/>
            </a:pPr>
            <a:r>
              <a:rPr lang="en-US" sz="1800" b="1" dirty="0">
                <a:solidFill>
                  <a:schemeClr val="bg1"/>
                </a:solidFill>
              </a:rPr>
              <a:t>Đã đạt</a:t>
            </a:r>
            <a:endParaRPr lang="en-US" sz="1800" dirty="0"/>
          </a:p>
        </p:txBody>
      </p:sp>
      <p:sp>
        <p:nvSpPr>
          <p:cNvPr id="7" name="Text 4"/>
          <p:cNvSpPr txBox="1"/>
          <p:nvPr/>
        </p:nvSpPr>
        <p:spPr>
          <a:xfrm>
            <a:off x="777240" y="2148840"/>
            <a:ext cx="347472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2"/>
                </a:solidFill>
              </a:rPr>
              <a:t>54 chức năng có đặc tả, 266 API</a:t>
            </a:r>
            <a:endParaRPr lang="en-US" sz="1400" dirty="0"/>
          </a:p>
          <a:p>
            <a:pPr marL="342900" indent="-342900">
              <a:spcAft>
                <a:spcPts val="600"/>
              </a:spcAft>
              <a:buSzPct val="100000"/>
              <a:buChar char="•"/>
            </a:pPr>
            <a:r>
              <a:rPr lang="en-US" sz="1400" dirty="0">
                <a:solidFill>
                  <a:schemeClr val="bg2"/>
                </a:solidFill>
              </a:rPr>
              <a:t>73 bảng, 32 thủ tục T-SQL</a:t>
            </a:r>
            <a:endParaRPr lang="en-US" sz="1400" dirty="0"/>
          </a:p>
          <a:p>
            <a:pPr marL="342900" indent="-342900">
              <a:spcAft>
                <a:spcPts val="600"/>
              </a:spcAft>
              <a:buSzPct val="100000"/>
              <a:buChar char="•"/>
            </a:pPr>
            <a:r>
              <a:rPr lang="en-US" sz="1400" dirty="0">
                <a:solidFill>
                  <a:schemeClr val="bg2"/>
                </a:solidFill>
              </a:rPr>
              <a:t>304 test + 45 E2E đều PASS</a:t>
            </a:r>
            <a:endParaRPr lang="en-US" sz="1400" dirty="0"/>
          </a:p>
          <a:p>
            <a:pPr marL="342900" indent="-342900">
              <a:spcAft>
                <a:spcPts val="600"/>
              </a:spcAft>
              <a:buSzPct val="100000"/>
              <a:buChar char="•"/>
            </a:pPr>
            <a:r>
              <a:rPr lang="en-US" sz="1400" dirty="0">
                <a:solidFill>
                  <a:schemeClr val="bg2"/>
                </a:solidFill>
              </a:rPr>
              <a:t>Nhật ký prompt, quyết định, lỗi đầy đủ</a:t>
            </a:r>
            <a:endParaRPr lang="en-US" sz="1400" dirty="0"/>
          </a:p>
        </p:txBody>
      </p:sp>
      <p:sp>
        <p:nvSpPr>
          <p:cNvPr id="8" name="next"/>
          <p:cNvSpPr/>
          <p:nvPr/>
        </p:nvSpPr>
        <p:spPr>
          <a:xfrm>
            <a:off x="4754880" y="1371600"/>
            <a:ext cx="3840480" cy="2514600"/>
          </a:xfrm>
          <a:prstGeom prst="roundRect">
            <a:avLst>
              <a:gd name="adj" fmla="val 4364"/>
            </a:avLst>
          </a:prstGeom>
          <a:solidFill>
            <a:srgbClr val="33231A"/>
          </a:solidFill>
          <a:ln/>
        </p:spPr>
      </p:sp>
      <p:sp>
        <p:nvSpPr>
          <p:cNvPr id="9" name="icon-bg-LuSparkles"/>
          <p:cNvSpPr/>
          <p:nvPr/>
        </p:nvSpPr>
        <p:spPr>
          <a:xfrm>
            <a:off x="4937760" y="1536192"/>
            <a:ext cx="457200" cy="457200"/>
          </a:xfrm>
          <a:prstGeom prst="ellipse">
            <a:avLst/>
          </a:prstGeom>
          <a:solidFill>
            <a:schemeClr val="accent1"/>
          </a:solidFill>
          <a:ln/>
        </p:spPr>
      </p:sp>
      <p:pic>
        <p:nvPicPr>
          <p:cNvPr id="10" name="icon-LuSparkles" descr="preencoded.png">    </p:cNvPr>
          <p:cNvPicPr>
            <a:picLocks noChangeAspect="1"/>
          </p:cNvPicPr>
          <p:nvPr/>
        </p:nvPicPr>
        <p:blipFill>
          <a:blip r:embed="rId2"/>
          <a:stretch>
            <a:fillRect/>
          </a:stretch>
        </p:blipFill>
        <p:spPr>
          <a:xfrm>
            <a:off x="5047488" y="1645920"/>
            <a:ext cx="237744" cy="237744"/>
          </a:xfrm>
          <a:prstGeom prst="rect">
            <a:avLst/>
          </a:prstGeom>
        </p:spPr>
      </p:pic>
      <p:sp>
        <p:nvSpPr>
          <p:cNvPr id="11" name="Text 7"/>
          <p:cNvSpPr txBox="1"/>
          <p:nvPr/>
        </p:nvSpPr>
        <p:spPr>
          <a:xfrm>
            <a:off x="5532120" y="1600200"/>
            <a:ext cx="2926080" cy="365760"/>
          </a:xfrm>
          <a:prstGeom prst="rect">
            <a:avLst/>
          </a:prstGeom>
          <a:noFill/>
          <a:ln/>
        </p:spPr>
        <p:txBody>
          <a:bodyPr wrap="square" lIns="0" tIns="0" rIns="0" bIns="0" rtlCol="0" anchor="t"/>
          <a:lstStyle/>
          <a:p>
            <a:pPr indent="0" marL="0">
              <a:buNone/>
            </a:pPr>
            <a:r>
              <a:rPr lang="en-US" sz="1800" b="1" dirty="0">
                <a:solidFill>
                  <a:schemeClr val="bg1"/>
                </a:solidFill>
              </a:rPr>
              <a:t>Hướng phát triển</a:t>
            </a:r>
            <a:endParaRPr lang="en-US" sz="1800" dirty="0"/>
          </a:p>
        </p:txBody>
      </p:sp>
      <p:sp>
        <p:nvSpPr>
          <p:cNvPr id="12" name="Text 8"/>
          <p:cNvSpPr txBox="1"/>
          <p:nvPr/>
        </p:nvSpPr>
        <p:spPr>
          <a:xfrm>
            <a:off x="4983480" y="2148840"/>
            <a:ext cx="347472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2"/>
                </a:solidFill>
              </a:rPr>
              <a:t>Thanh toán online, tự xác nhận và in bill</a:t>
            </a:r>
            <a:endParaRPr lang="en-US" sz="1400" dirty="0"/>
          </a:p>
          <a:p>
            <a:pPr marL="342900" indent="-342900">
              <a:spcAft>
                <a:spcPts val="600"/>
              </a:spcAft>
              <a:buSzPct val="100000"/>
              <a:buChar char="•"/>
            </a:pPr>
            <a:r>
              <a:rPr lang="en-US" sz="1400" dirty="0">
                <a:solidFill>
                  <a:schemeClr val="bg2"/>
                </a:solidFill>
              </a:rPr>
              <a:t>Cài máy chạy ở quán (LAN), VPS dự phòng</a:t>
            </a:r>
            <a:endParaRPr lang="en-US" sz="1400" dirty="0"/>
          </a:p>
          <a:p>
            <a:pPr marL="342900" indent="-342900">
              <a:spcAft>
                <a:spcPts val="600"/>
              </a:spcAft>
              <a:buSzPct val="100000"/>
              <a:buChar char="•"/>
            </a:pPr>
            <a:r>
              <a:rPr lang="en-US" sz="1400" dirty="0">
                <a:solidFill>
                  <a:schemeClr val="bg2"/>
                </a:solidFill>
              </a:rPr>
              <a:t>Trang Swagger / OpenAPI cho API</a:t>
            </a:r>
            <a:endParaRPr lang="en-US" sz="1400" dirty="0"/>
          </a:p>
          <a:p>
            <a:pPr marL="342900" indent="-342900">
              <a:spcAft>
                <a:spcPts val="600"/>
              </a:spcAft>
              <a:buSzPct val="100000"/>
              <a:buChar char="•"/>
            </a:pPr>
            <a:r>
              <a:rPr lang="en-US" sz="1400" dirty="0">
                <a:solidFill>
                  <a:schemeClr val="bg2"/>
                </a:solidFill>
              </a:rPr>
              <a:t>Thử với nhân viên thật (UAT)</a:t>
            </a:r>
            <a:endParaRPr lang="en-US" sz="1400" dirty="0"/>
          </a:p>
        </p:txBody>
      </p:sp>
      <p:sp>
        <p:nvSpPr>
          <p:cNvPr id="13" name="Text 9"/>
          <p:cNvSpPr txBox="1"/>
          <p:nvPr/>
        </p:nvSpPr>
        <p:spPr>
          <a:xfrm>
            <a:off x="548640" y="4160520"/>
            <a:ext cx="8046720" cy="457200"/>
          </a:xfrm>
          <a:prstGeom prst="rect">
            <a:avLst/>
          </a:prstGeom>
          <a:noFill/>
          <a:ln/>
        </p:spPr>
        <p:txBody>
          <a:bodyPr wrap="square" lIns="0" tIns="0" rIns="0" bIns="0" rtlCol="0" anchor="t"/>
          <a:lstStyle/>
          <a:p>
            <a:pPr algn="ctr" indent="0" marL="0">
              <a:buNone/>
            </a:pPr>
            <a:r>
              <a:rPr lang="en-US" sz="2200" b="1" dirty="0">
                <a:solidFill>
                  <a:schemeClr val="accent1"/>
                </a:solidFill>
                <a:latin typeface="Cambria" pitchFamily="34" charset="0"/>
                <a:ea typeface="Cambria" pitchFamily="34" charset="-122"/>
                <a:cs typeface="Cambria" pitchFamily="34" charset="-120"/>
              </a:rPr>
              <a:t>Cảm ơn thầy cô đã lắng nghe!</a:t>
            </a:r>
            <a:endParaRPr lang="en-US" sz="2200" dirty="0"/>
          </a:p>
        </p:txBody>
      </p:sp>
    </p:spTree>
  </p:cSld>
  <p:clrMapOvr>
    <a:masterClrMapping/>
  </p:clrMapOvr>
</p:sld>
</file>

<file path=ppt/theme/theme1.xml><?xml version="1.0" encoding="utf-8"?>
<a:theme xmlns:a="http://schemas.openxmlformats.org/drawingml/2006/main" name="Cafe QR Moc">
  <a:themeElements>
    <a:clrScheme name="Cafe QR Moc">
      <a:dk1>
        <a:srgbClr val="24170F"/>
      </a:dk1>
      <a:lt1>
        <a:srgbClr val="FFFFFF"/>
      </a:lt1>
      <a:dk2>
        <a:srgbClr val="7A4527"/>
      </a:dk2>
      <a:lt2>
        <a:srgbClr val="F6EFE5"/>
      </a:lt2>
      <a:accent1>
        <a:srgbClr val="C8873F"/>
      </a:accent1>
      <a:accent2>
        <a:srgbClr val="2F6A45"/>
      </a:accent2>
      <a:accent3>
        <a:srgbClr val="2C5D88"/>
      </a:accent3>
      <a:accent4>
        <a:srgbClr val="B3261E"/>
      </a:accent4>
      <a:accent5>
        <a:srgbClr val="8C5220"/>
      </a:accent5>
      <a:accent6>
        <a:srgbClr val="68533F"/>
      </a:accent6>
      <a:hlink>
        <a:srgbClr val="7A4527"/>
      </a:hlink>
      <a:folHlink>
        <a:srgbClr val="68533F"/>
      </a:folHlink>
    </a:clrScheme>
    <a:fontScheme name="Cafe QR Mo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Cafe QR — Đồ án Back-end tích hợp AI</dc:title>
  <dc:subject>PptxGenJS Presentation</dc:subject>
  <dc:creator>Sinh viên thực hiện</dc:creator>
  <cp:lastModifiedBy>Sinh viên thực hiện</cp:lastModifiedBy>
  <cp:revision>1</cp:revision>
  <dcterms:created xsi:type="dcterms:W3CDTF">2026-10-23T11:18:23Z</dcterms:created>
  <dcterms:modified xsi:type="dcterms:W3CDTF">2026-10-23T11:18:23Z</dcterms:modified>
</cp:coreProperties>
</file>